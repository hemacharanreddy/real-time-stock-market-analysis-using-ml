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222222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222222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222222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222222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222222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222222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839952"/>
            <a:ext cx="1558290" cy="8607425"/>
          </a:xfrm>
          <a:custGeom>
            <a:avLst/>
            <a:gdLst/>
            <a:ahLst/>
            <a:cxnLst/>
            <a:rect l="l" t="t" r="r" b="b"/>
            <a:pathLst>
              <a:path w="1558290" h="8607425">
                <a:moveTo>
                  <a:pt x="1558086" y="0"/>
                </a:moveTo>
                <a:lnTo>
                  <a:pt x="0" y="0"/>
                </a:lnTo>
                <a:lnTo>
                  <a:pt x="0" y="8607094"/>
                </a:lnTo>
                <a:lnTo>
                  <a:pt x="1558086" y="8607094"/>
                </a:lnTo>
                <a:lnTo>
                  <a:pt x="1558086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7588" y="711700"/>
            <a:ext cx="13306263" cy="1468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222222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65706" y="2688246"/>
            <a:ext cx="13616940" cy="5892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222222"/>
                </a:solidFill>
                <a:latin typeface="Arial Narrow"/>
                <a:cs typeface="Arial Narrow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12111" y="2907495"/>
            <a:ext cx="14691360" cy="181673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dirty="0" sz="5850" spc="290"/>
              <a:t>REAL-</a:t>
            </a:r>
            <a:r>
              <a:rPr dirty="0" sz="5850" spc="285"/>
              <a:t>TIME</a:t>
            </a:r>
            <a:r>
              <a:rPr dirty="0" sz="5850" spc="1260"/>
              <a:t> </a:t>
            </a:r>
            <a:r>
              <a:rPr dirty="0" sz="5850"/>
              <a:t>STOCK</a:t>
            </a:r>
            <a:r>
              <a:rPr dirty="0" sz="5850" spc="1270"/>
              <a:t> </a:t>
            </a:r>
            <a:r>
              <a:rPr dirty="0" sz="5850" spc="-40"/>
              <a:t>MARKET</a:t>
            </a:r>
            <a:r>
              <a:rPr dirty="0" sz="5850" spc="1275"/>
              <a:t> </a:t>
            </a:r>
            <a:r>
              <a:rPr dirty="0" sz="5850"/>
              <a:t>DATA</a:t>
            </a:r>
            <a:r>
              <a:rPr dirty="0" sz="5850" spc="1270"/>
              <a:t> </a:t>
            </a:r>
            <a:r>
              <a:rPr dirty="0" sz="5850" spc="140"/>
              <a:t>ANALYSIS </a:t>
            </a:r>
            <a:r>
              <a:rPr dirty="0" sz="5850" spc="150"/>
              <a:t>USING</a:t>
            </a:r>
            <a:r>
              <a:rPr dirty="0" sz="5850" spc="270"/>
              <a:t>  </a:t>
            </a:r>
            <a:r>
              <a:rPr dirty="0" sz="5850"/>
              <a:t>MACHINE</a:t>
            </a:r>
            <a:r>
              <a:rPr dirty="0" sz="5850" spc="275"/>
              <a:t>  </a:t>
            </a:r>
            <a:r>
              <a:rPr dirty="0" sz="5850" spc="55"/>
              <a:t>LEARNING</a:t>
            </a:r>
            <a:r>
              <a:rPr dirty="0" sz="5850" spc="270"/>
              <a:t>  </a:t>
            </a:r>
            <a:r>
              <a:rPr dirty="0" sz="5850" spc="1600"/>
              <a:t>-</a:t>
            </a:r>
            <a:r>
              <a:rPr dirty="0" sz="5850" spc="270"/>
              <a:t>  </a:t>
            </a:r>
            <a:r>
              <a:rPr dirty="0" sz="5850" spc="190"/>
              <a:t>S-</a:t>
            </a:r>
            <a:r>
              <a:rPr dirty="0" sz="5850" spc="245"/>
              <a:t>PULSE</a:t>
            </a:r>
            <a:endParaRPr sz="5850"/>
          </a:p>
        </p:txBody>
      </p:sp>
      <p:sp>
        <p:nvSpPr>
          <p:cNvPr id="3" name="object 3"/>
          <p:cNvSpPr txBox="1"/>
          <p:nvPr/>
        </p:nvSpPr>
        <p:spPr>
          <a:xfrm>
            <a:off x="10079787" y="6305490"/>
            <a:ext cx="7306309" cy="2692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350" b="1">
                <a:solidFill>
                  <a:srgbClr val="222222"/>
                </a:solidFill>
                <a:latin typeface="Arial Narrow"/>
                <a:cs typeface="Arial Narrow"/>
              </a:rPr>
              <a:t>Presented</a:t>
            </a:r>
            <a:r>
              <a:rPr dirty="0" sz="3500" spc="17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229" b="1">
                <a:solidFill>
                  <a:srgbClr val="222222"/>
                </a:solidFill>
                <a:latin typeface="Arial Narrow"/>
                <a:cs typeface="Arial Narrow"/>
              </a:rPr>
              <a:t>by</a:t>
            </a:r>
            <a:r>
              <a:rPr dirty="0" sz="3500" spc="17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905" b="1">
                <a:solidFill>
                  <a:srgbClr val="222222"/>
                </a:solidFill>
                <a:latin typeface="Arial Narrow"/>
                <a:cs typeface="Arial Narrow"/>
              </a:rPr>
              <a:t>:</a:t>
            </a:r>
            <a:endParaRPr sz="3500">
              <a:latin typeface="Arial Narrow"/>
              <a:cs typeface="Arial Narrow"/>
            </a:endParaRPr>
          </a:p>
          <a:p>
            <a:pPr marL="12700" marR="5080">
              <a:lnSpc>
                <a:spcPct val="100000"/>
              </a:lnSpc>
            </a:pPr>
            <a:r>
              <a:rPr dirty="0" sz="3500" spc="300" b="1">
                <a:solidFill>
                  <a:srgbClr val="222222"/>
                </a:solidFill>
                <a:latin typeface="Arial Narrow"/>
                <a:cs typeface="Arial Narrow"/>
              </a:rPr>
              <a:t>2310030419</a:t>
            </a:r>
            <a:r>
              <a:rPr dirty="0" sz="3500" spc="13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955" b="1">
                <a:solidFill>
                  <a:srgbClr val="222222"/>
                </a:solidFill>
                <a:latin typeface="Arial Narrow"/>
                <a:cs typeface="Arial Narrow"/>
              </a:rPr>
              <a:t>-</a:t>
            </a:r>
            <a:r>
              <a:rPr dirty="0" sz="3500" spc="13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b="1">
                <a:solidFill>
                  <a:srgbClr val="222222"/>
                </a:solidFill>
                <a:latin typeface="Arial Narrow"/>
                <a:cs typeface="Arial Narrow"/>
              </a:rPr>
              <a:t>Hema</a:t>
            </a:r>
            <a:r>
              <a:rPr dirty="0" sz="3500" spc="13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245" b="1">
                <a:solidFill>
                  <a:srgbClr val="222222"/>
                </a:solidFill>
                <a:latin typeface="Arial Narrow"/>
                <a:cs typeface="Arial Narrow"/>
              </a:rPr>
              <a:t>Charan</a:t>
            </a:r>
            <a:r>
              <a:rPr dirty="0" sz="3500" spc="13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130" b="1">
                <a:solidFill>
                  <a:srgbClr val="222222"/>
                </a:solidFill>
                <a:latin typeface="Arial Narrow"/>
                <a:cs typeface="Arial Narrow"/>
              </a:rPr>
              <a:t>Reddy </a:t>
            </a:r>
            <a:r>
              <a:rPr dirty="0" sz="3500" spc="300" b="1">
                <a:solidFill>
                  <a:srgbClr val="222222"/>
                </a:solidFill>
                <a:latin typeface="Arial Narrow"/>
                <a:cs typeface="Arial Narrow"/>
              </a:rPr>
              <a:t>2310030114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955" b="1">
                <a:solidFill>
                  <a:srgbClr val="222222"/>
                </a:solidFill>
                <a:latin typeface="Arial Narrow"/>
                <a:cs typeface="Arial Narrow"/>
              </a:rPr>
              <a:t>-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390" b="1">
                <a:solidFill>
                  <a:srgbClr val="222222"/>
                </a:solidFill>
                <a:latin typeface="Arial Narrow"/>
                <a:cs typeface="Arial Narrow"/>
              </a:rPr>
              <a:t>Dheeraj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130" b="1">
                <a:solidFill>
                  <a:srgbClr val="222222"/>
                </a:solidFill>
                <a:latin typeface="Arial Narrow"/>
                <a:cs typeface="Arial Narrow"/>
              </a:rPr>
              <a:t>Reddy </a:t>
            </a:r>
            <a:r>
              <a:rPr dirty="0" sz="3500" spc="300" b="1">
                <a:solidFill>
                  <a:srgbClr val="222222"/>
                </a:solidFill>
                <a:latin typeface="Arial Narrow"/>
                <a:cs typeface="Arial Narrow"/>
              </a:rPr>
              <a:t>2310030441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955" b="1">
                <a:solidFill>
                  <a:srgbClr val="222222"/>
                </a:solidFill>
                <a:latin typeface="Arial Narrow"/>
                <a:cs typeface="Arial Narrow"/>
              </a:rPr>
              <a:t>-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40" b="1">
                <a:solidFill>
                  <a:srgbClr val="222222"/>
                </a:solidFill>
                <a:latin typeface="Arial Narrow"/>
                <a:cs typeface="Arial Narrow"/>
              </a:rPr>
              <a:t>Nihar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130" b="1">
                <a:solidFill>
                  <a:srgbClr val="222222"/>
                </a:solidFill>
                <a:latin typeface="Arial Narrow"/>
                <a:cs typeface="Arial Narrow"/>
              </a:rPr>
              <a:t>Reddy </a:t>
            </a:r>
            <a:r>
              <a:rPr dirty="0" sz="3500" spc="300" b="1">
                <a:solidFill>
                  <a:srgbClr val="222222"/>
                </a:solidFill>
                <a:latin typeface="Arial Narrow"/>
                <a:cs typeface="Arial Narrow"/>
              </a:rPr>
              <a:t>2310030444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955" b="1">
                <a:solidFill>
                  <a:srgbClr val="222222"/>
                </a:solidFill>
                <a:latin typeface="Arial Narrow"/>
                <a:cs typeface="Arial Narrow"/>
              </a:rPr>
              <a:t>-</a:t>
            </a:r>
            <a:r>
              <a:rPr dirty="0" sz="3500" spc="17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70" b="1">
                <a:solidFill>
                  <a:srgbClr val="222222"/>
                </a:solidFill>
                <a:latin typeface="Arial Narrow"/>
                <a:cs typeface="Arial Narrow"/>
              </a:rPr>
              <a:t>Kotla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380" b="1">
                <a:solidFill>
                  <a:srgbClr val="222222"/>
                </a:solidFill>
                <a:latin typeface="Arial Narrow"/>
                <a:cs typeface="Arial Narrow"/>
              </a:rPr>
              <a:t>Dheeraj</a:t>
            </a:r>
            <a:endParaRPr sz="35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56728" y="853455"/>
            <a:ext cx="1711960" cy="1711960"/>
          </a:xfrm>
          <a:custGeom>
            <a:avLst/>
            <a:gdLst/>
            <a:ahLst/>
            <a:cxnLst/>
            <a:rect l="l" t="t" r="r" b="b"/>
            <a:pathLst>
              <a:path w="1711959" h="1711960">
                <a:moveTo>
                  <a:pt x="1711642" y="0"/>
                </a:moveTo>
                <a:lnTo>
                  <a:pt x="58737" y="13652"/>
                </a:lnTo>
                <a:lnTo>
                  <a:pt x="55333" y="220560"/>
                </a:lnTo>
                <a:lnTo>
                  <a:pt x="1356918" y="209880"/>
                </a:lnTo>
                <a:lnTo>
                  <a:pt x="0" y="1566799"/>
                </a:lnTo>
                <a:lnTo>
                  <a:pt x="144716" y="1711515"/>
                </a:lnTo>
                <a:lnTo>
                  <a:pt x="1501635" y="354596"/>
                </a:lnTo>
                <a:lnTo>
                  <a:pt x="1489938" y="1655165"/>
                </a:lnTo>
                <a:lnTo>
                  <a:pt x="1697977" y="1652892"/>
                </a:lnTo>
                <a:lnTo>
                  <a:pt x="1711642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17588" y="711700"/>
            <a:ext cx="12081510" cy="14204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150"/>
              <a:t>PROJECT</a:t>
            </a:r>
            <a:r>
              <a:rPr dirty="0" sz="9150" spc="2195"/>
              <a:t> </a:t>
            </a:r>
            <a:r>
              <a:rPr dirty="0" sz="9150" spc="315"/>
              <a:t>DESCRIPTION</a:t>
            </a:r>
            <a:endParaRPr sz="9150"/>
          </a:p>
        </p:txBody>
      </p:sp>
      <p:sp>
        <p:nvSpPr>
          <p:cNvPr id="3" name="object 3"/>
          <p:cNvSpPr txBox="1"/>
          <p:nvPr/>
        </p:nvSpPr>
        <p:spPr>
          <a:xfrm>
            <a:off x="2417588" y="1965259"/>
            <a:ext cx="15003780" cy="6060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4190">
              <a:lnSpc>
                <a:spcPct val="100000"/>
              </a:lnSpc>
              <a:spcBef>
                <a:spcPts val="100"/>
              </a:spcBef>
            </a:pPr>
            <a:r>
              <a:rPr dirty="0" sz="3600" spc="155">
                <a:solidFill>
                  <a:srgbClr val="222222"/>
                </a:solidFill>
                <a:latin typeface="Lucida Sans"/>
                <a:cs typeface="Lucida Sans"/>
              </a:rPr>
              <a:t>AI-</a:t>
            </a:r>
            <a:r>
              <a:rPr dirty="0" sz="3600" spc="185">
                <a:solidFill>
                  <a:srgbClr val="222222"/>
                </a:solidFill>
                <a:latin typeface="Lucida Sans"/>
                <a:cs typeface="Lucida Sans"/>
              </a:rPr>
              <a:t>Driven</a:t>
            </a:r>
            <a:r>
              <a:rPr dirty="0" sz="3600" spc="75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Market</a:t>
            </a:r>
            <a:r>
              <a:rPr dirty="0" sz="3600" spc="75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265">
                <a:solidFill>
                  <a:srgbClr val="222222"/>
                </a:solidFill>
                <a:latin typeface="Lucida Sans"/>
                <a:cs typeface="Lucida Sans"/>
              </a:rPr>
              <a:t>Analytics:</a:t>
            </a:r>
            <a:r>
              <a:rPr dirty="0" sz="3600" spc="76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110">
                <a:solidFill>
                  <a:srgbClr val="222222"/>
                </a:solidFill>
                <a:latin typeface="Lucida Sans"/>
                <a:cs typeface="Lucida Sans"/>
              </a:rPr>
              <a:t>This</a:t>
            </a:r>
            <a:r>
              <a:rPr dirty="0" sz="3600" spc="75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515">
                <a:solidFill>
                  <a:srgbClr val="222222"/>
                </a:solidFill>
                <a:latin typeface="Lucida Sans"/>
                <a:cs typeface="Lucida Sans"/>
              </a:rPr>
              <a:t>is</a:t>
            </a:r>
            <a:r>
              <a:rPr dirty="0" sz="3600" spc="75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an</a:t>
            </a:r>
            <a:r>
              <a:rPr dirty="0" sz="3600" spc="76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200">
                <a:solidFill>
                  <a:srgbClr val="222222"/>
                </a:solidFill>
                <a:latin typeface="Lucida Sans"/>
                <a:cs typeface="Lucida Sans"/>
              </a:rPr>
              <a:t>AI-</a:t>
            </a:r>
            <a:r>
              <a:rPr dirty="0" sz="3600" spc="235">
                <a:solidFill>
                  <a:srgbClr val="222222"/>
                </a:solidFill>
                <a:latin typeface="Lucida Sans"/>
                <a:cs typeface="Lucida Sans"/>
              </a:rPr>
              <a:t>driven</a:t>
            </a:r>
            <a:r>
              <a:rPr dirty="0" sz="3600" spc="75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315">
                <a:solidFill>
                  <a:srgbClr val="222222"/>
                </a:solidFill>
                <a:latin typeface="Lucida Sans"/>
                <a:cs typeface="Lucida Sans"/>
              </a:rPr>
              <a:t>financial </a:t>
            </a:r>
            <a:r>
              <a:rPr dirty="0" sz="3600" spc="270">
                <a:solidFill>
                  <a:srgbClr val="222222"/>
                </a:solidFill>
                <a:latin typeface="Lucida Sans"/>
                <a:cs typeface="Lucida Sans"/>
              </a:rPr>
              <a:t>analytics</a:t>
            </a:r>
            <a:r>
              <a:rPr dirty="0" sz="3600" spc="76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75">
                <a:solidFill>
                  <a:srgbClr val="222222"/>
                </a:solidFill>
                <a:latin typeface="Lucida Sans"/>
                <a:cs typeface="Lucida Sans"/>
              </a:rPr>
              <a:t>platform</a:t>
            </a:r>
            <a:r>
              <a:rPr dirty="0" sz="3600" spc="76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designed</a:t>
            </a:r>
            <a:r>
              <a:rPr dirty="0" sz="3600" spc="76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365">
                <a:solidFill>
                  <a:srgbClr val="222222"/>
                </a:solidFill>
                <a:latin typeface="Lucida Sans"/>
                <a:cs typeface="Lucida Sans"/>
              </a:rPr>
              <a:t>specifically</a:t>
            </a:r>
            <a:r>
              <a:rPr dirty="0" sz="3600" spc="76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280">
                <a:solidFill>
                  <a:srgbClr val="222222"/>
                </a:solidFill>
                <a:latin typeface="Lucida Sans"/>
                <a:cs typeface="Lucida Sans"/>
              </a:rPr>
              <a:t>for</a:t>
            </a:r>
            <a:r>
              <a:rPr dirty="0" sz="3600" spc="76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459">
                <a:solidFill>
                  <a:srgbClr val="222222"/>
                </a:solidFill>
                <a:latin typeface="Lucida Sans"/>
                <a:cs typeface="Lucida Sans"/>
              </a:rPr>
              <a:t>retail </a:t>
            </a:r>
            <a:r>
              <a:rPr dirty="0" sz="3600" spc="190">
                <a:solidFill>
                  <a:srgbClr val="222222"/>
                </a:solidFill>
                <a:latin typeface="Lucida Sans"/>
                <a:cs typeface="Lucida Sans"/>
              </a:rPr>
              <a:t>investors</a:t>
            </a:r>
            <a:r>
              <a:rPr dirty="0" sz="3600" spc="509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and</a:t>
            </a:r>
            <a:r>
              <a:rPr dirty="0" sz="3600" spc="509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260">
                <a:solidFill>
                  <a:srgbClr val="222222"/>
                </a:solidFill>
                <a:latin typeface="Lucida Sans"/>
                <a:cs typeface="Lucida Sans"/>
              </a:rPr>
              <a:t>traders.</a:t>
            </a:r>
            <a:endParaRPr sz="36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3600">
              <a:latin typeface="Lucida Sans"/>
              <a:cs typeface="Lucida Sans"/>
            </a:endParaRPr>
          </a:p>
          <a:p>
            <a:pPr marL="12700" marR="5080">
              <a:lnSpc>
                <a:spcPct val="100000"/>
              </a:lnSpc>
            </a:pP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Meaningful</a:t>
            </a:r>
            <a:r>
              <a:rPr dirty="0" sz="3600" spc="79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295">
                <a:solidFill>
                  <a:srgbClr val="222222"/>
                </a:solidFill>
                <a:latin typeface="Lucida Sans"/>
                <a:cs typeface="Lucida Sans"/>
              </a:rPr>
              <a:t>Insights:</a:t>
            </a:r>
            <a:r>
              <a:rPr dirty="0" sz="3600" spc="79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760">
                <a:solidFill>
                  <a:srgbClr val="222222"/>
                </a:solidFill>
                <a:latin typeface="Lucida Sans"/>
                <a:cs typeface="Lucida Sans"/>
              </a:rPr>
              <a:t>It</a:t>
            </a:r>
            <a:r>
              <a:rPr dirty="0" sz="3600" spc="79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transforms</a:t>
            </a:r>
            <a:r>
              <a:rPr dirty="0" sz="3600" spc="79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raw</a:t>
            </a:r>
            <a:r>
              <a:rPr dirty="0" sz="3600" spc="79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market</a:t>
            </a:r>
            <a:r>
              <a:rPr dirty="0" sz="3600" spc="79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70">
                <a:solidFill>
                  <a:srgbClr val="222222"/>
                </a:solidFill>
                <a:latin typeface="Lucida Sans"/>
                <a:cs typeface="Lucida Sans"/>
              </a:rPr>
              <a:t>records</a:t>
            </a:r>
            <a:r>
              <a:rPr dirty="0" sz="3600" spc="79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-25">
                <a:solidFill>
                  <a:srgbClr val="222222"/>
                </a:solidFill>
                <a:latin typeface="Lucida Sans"/>
                <a:cs typeface="Lucida Sans"/>
              </a:rPr>
              <a:t>and </a:t>
            </a:r>
            <a:r>
              <a:rPr dirty="0" sz="3600" spc="475">
                <a:solidFill>
                  <a:srgbClr val="222222"/>
                </a:solidFill>
                <a:latin typeface="Lucida Sans"/>
                <a:cs typeface="Lucida Sans"/>
              </a:rPr>
              <a:t>live</a:t>
            </a:r>
            <a:r>
              <a:rPr dirty="0" sz="3600" spc="8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325">
                <a:solidFill>
                  <a:srgbClr val="222222"/>
                </a:solidFill>
                <a:latin typeface="Lucida Sans"/>
                <a:cs typeface="Lucida Sans"/>
              </a:rPr>
              <a:t>ticker</a:t>
            </a:r>
            <a:r>
              <a:rPr dirty="0" sz="3600" spc="8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55">
                <a:solidFill>
                  <a:srgbClr val="222222"/>
                </a:solidFill>
                <a:latin typeface="Lucida Sans"/>
                <a:cs typeface="Lucida Sans"/>
              </a:rPr>
              <a:t>data</a:t>
            </a:r>
            <a:r>
              <a:rPr dirty="0" sz="3600" spc="8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235">
                <a:solidFill>
                  <a:srgbClr val="222222"/>
                </a:solidFill>
                <a:latin typeface="Lucida Sans"/>
                <a:cs typeface="Lucida Sans"/>
              </a:rPr>
              <a:t>into</a:t>
            </a:r>
            <a:r>
              <a:rPr dirty="0" sz="3600" spc="8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meaningful</a:t>
            </a:r>
            <a:r>
              <a:rPr dirty="0" sz="3600" spc="8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295">
                <a:solidFill>
                  <a:srgbClr val="222222"/>
                </a:solidFill>
                <a:latin typeface="Lucida Sans"/>
                <a:cs typeface="Lucida Sans"/>
              </a:rPr>
              <a:t>insights,</a:t>
            </a:r>
            <a:r>
              <a:rPr dirty="0" sz="3600" spc="8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75">
                <a:solidFill>
                  <a:srgbClr val="222222"/>
                </a:solidFill>
                <a:latin typeface="Lucida Sans"/>
                <a:cs typeface="Lucida Sans"/>
              </a:rPr>
              <a:t>enabling</a:t>
            </a:r>
            <a:r>
              <a:rPr dirty="0" sz="3600" spc="8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75">
                <a:solidFill>
                  <a:srgbClr val="222222"/>
                </a:solidFill>
                <a:latin typeface="Lucida Sans"/>
                <a:cs typeface="Lucida Sans"/>
              </a:rPr>
              <a:t>users</a:t>
            </a:r>
            <a:r>
              <a:rPr dirty="0" sz="3600" spc="8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150">
                <a:solidFill>
                  <a:srgbClr val="222222"/>
                </a:solidFill>
                <a:latin typeface="Lucida Sans"/>
                <a:cs typeface="Lucida Sans"/>
              </a:rPr>
              <a:t>to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understand</a:t>
            </a:r>
            <a:r>
              <a:rPr dirty="0" sz="3600" spc="55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220">
                <a:solidFill>
                  <a:srgbClr val="222222"/>
                </a:solidFill>
                <a:latin typeface="Lucida Sans"/>
                <a:cs typeface="Lucida Sans"/>
              </a:rPr>
              <a:t>price</a:t>
            </a:r>
            <a:r>
              <a:rPr dirty="0" sz="3600" spc="55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190">
                <a:solidFill>
                  <a:srgbClr val="222222"/>
                </a:solidFill>
                <a:latin typeface="Lucida Sans"/>
                <a:cs typeface="Lucida Sans"/>
              </a:rPr>
              <a:t>trends,</a:t>
            </a:r>
            <a:r>
              <a:rPr dirty="0" sz="3600" spc="55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505">
                <a:solidFill>
                  <a:srgbClr val="222222"/>
                </a:solidFill>
                <a:latin typeface="Lucida Sans"/>
                <a:cs typeface="Lucida Sans"/>
              </a:rPr>
              <a:t>volatility,</a:t>
            </a:r>
            <a:r>
              <a:rPr dirty="0" sz="3600" spc="55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and</a:t>
            </a:r>
            <a:r>
              <a:rPr dirty="0" sz="3600" spc="55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-65">
                <a:solidFill>
                  <a:srgbClr val="222222"/>
                </a:solidFill>
                <a:latin typeface="Lucida Sans"/>
                <a:cs typeface="Lucida Sans"/>
              </a:rPr>
              <a:t>volume</a:t>
            </a:r>
            <a:r>
              <a:rPr dirty="0" sz="3600" spc="55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-10">
                <a:solidFill>
                  <a:srgbClr val="222222"/>
                </a:solidFill>
                <a:latin typeface="Lucida Sans"/>
                <a:cs typeface="Lucida Sans"/>
              </a:rPr>
              <a:t>demand.</a:t>
            </a:r>
            <a:endParaRPr sz="36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3600">
              <a:latin typeface="Lucida Sans"/>
              <a:cs typeface="Lucida Sans"/>
            </a:endParaRPr>
          </a:p>
          <a:p>
            <a:pPr marL="12700" marR="5080">
              <a:lnSpc>
                <a:spcPct val="100000"/>
              </a:lnSpc>
            </a:pPr>
            <a:r>
              <a:rPr dirty="0" sz="3600" spc="110">
                <a:solidFill>
                  <a:srgbClr val="222222"/>
                </a:solidFill>
                <a:latin typeface="Lucida Sans"/>
                <a:cs typeface="Lucida Sans"/>
              </a:rPr>
              <a:t>Personalized</a:t>
            </a:r>
            <a:r>
              <a:rPr dirty="0" sz="3600" spc="60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175">
                <a:solidFill>
                  <a:srgbClr val="222222"/>
                </a:solidFill>
                <a:latin typeface="Lucida Sans"/>
                <a:cs typeface="Lucida Sans"/>
              </a:rPr>
              <a:t>Forecasting:</a:t>
            </a:r>
            <a:r>
              <a:rPr dirty="0" sz="3600" spc="6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The</a:t>
            </a:r>
            <a:r>
              <a:rPr dirty="0" sz="3600" spc="6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system</a:t>
            </a:r>
            <a:r>
              <a:rPr dirty="0" sz="3600" spc="6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90">
                <a:solidFill>
                  <a:srgbClr val="222222"/>
                </a:solidFill>
                <a:latin typeface="Lucida Sans"/>
                <a:cs typeface="Lucida Sans"/>
              </a:rPr>
              <a:t>provides</a:t>
            </a:r>
            <a:r>
              <a:rPr dirty="0" sz="3600" spc="6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80">
                <a:solidFill>
                  <a:srgbClr val="222222"/>
                </a:solidFill>
                <a:latin typeface="Lucida Sans"/>
                <a:cs typeface="Lucida Sans"/>
              </a:rPr>
              <a:t>personalized </a:t>
            </a:r>
            <a:r>
              <a:rPr dirty="0" sz="3600" spc="220">
                <a:solidFill>
                  <a:srgbClr val="222222"/>
                </a:solidFill>
                <a:latin typeface="Lucida Sans"/>
                <a:cs typeface="Lucida Sans"/>
              </a:rPr>
              <a:t>price</a:t>
            </a:r>
            <a:r>
              <a:rPr dirty="0" sz="3600" spc="62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-45">
                <a:solidFill>
                  <a:srgbClr val="222222"/>
                </a:solidFill>
                <a:latin typeface="Lucida Sans"/>
                <a:cs typeface="Lucida Sans"/>
              </a:rPr>
              <a:t>roadmap,</a:t>
            </a:r>
            <a:r>
              <a:rPr dirty="0" sz="3600" spc="62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-55">
                <a:solidFill>
                  <a:srgbClr val="222222"/>
                </a:solidFill>
                <a:latin typeface="Lucida Sans"/>
                <a:cs typeface="Lucida Sans"/>
              </a:rPr>
              <a:t>automated</a:t>
            </a:r>
            <a:r>
              <a:rPr dirty="0" sz="3600" spc="62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225">
                <a:solidFill>
                  <a:srgbClr val="222222"/>
                </a:solidFill>
                <a:latin typeface="Lucida Sans"/>
                <a:cs typeface="Lucida Sans"/>
              </a:rPr>
              <a:t>technical</a:t>
            </a:r>
            <a:r>
              <a:rPr dirty="0" sz="3600" spc="62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240">
                <a:solidFill>
                  <a:srgbClr val="222222"/>
                </a:solidFill>
                <a:latin typeface="Lucida Sans"/>
                <a:cs typeface="Lucida Sans"/>
              </a:rPr>
              <a:t>indicator</a:t>
            </a:r>
            <a:r>
              <a:rPr dirty="0" sz="3600" spc="62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140">
                <a:solidFill>
                  <a:srgbClr val="222222"/>
                </a:solidFill>
                <a:latin typeface="Lucida Sans"/>
                <a:cs typeface="Lucida Sans"/>
              </a:rPr>
              <a:t>generation,</a:t>
            </a:r>
            <a:r>
              <a:rPr dirty="0" sz="3600" spc="62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-55">
                <a:solidFill>
                  <a:srgbClr val="222222"/>
                </a:solidFill>
                <a:latin typeface="Lucida Sans"/>
                <a:cs typeface="Lucida Sans"/>
              </a:rPr>
              <a:t>and </a:t>
            </a:r>
            <a:r>
              <a:rPr dirty="0" sz="3600" spc="160">
                <a:solidFill>
                  <a:srgbClr val="222222"/>
                </a:solidFill>
                <a:latin typeface="Lucida Sans"/>
                <a:cs typeface="Lucida Sans"/>
              </a:rPr>
              <a:t>sector</a:t>
            </a:r>
            <a:r>
              <a:rPr dirty="0" sz="3600" spc="76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310">
                <a:solidFill>
                  <a:srgbClr val="222222"/>
                </a:solidFill>
                <a:latin typeface="Lucida Sans"/>
                <a:cs typeface="Lucida Sans"/>
              </a:rPr>
              <a:t>specific</a:t>
            </a:r>
            <a:r>
              <a:rPr dirty="0" sz="3600" spc="77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market</a:t>
            </a:r>
            <a:r>
              <a:rPr dirty="0" sz="3600" spc="76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110">
                <a:solidFill>
                  <a:srgbClr val="222222"/>
                </a:solidFill>
                <a:latin typeface="Lucida Sans"/>
                <a:cs typeface="Lucida Sans"/>
              </a:rPr>
              <a:t>preparation</a:t>
            </a:r>
            <a:r>
              <a:rPr dirty="0" sz="3600" spc="77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>
                <a:solidFill>
                  <a:srgbClr val="222222"/>
                </a:solidFill>
                <a:latin typeface="Lucida Sans"/>
                <a:cs typeface="Lucida Sans"/>
              </a:rPr>
              <a:t>using</a:t>
            </a:r>
            <a:r>
              <a:rPr dirty="0" sz="3600" spc="77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600" spc="375">
                <a:solidFill>
                  <a:srgbClr val="222222"/>
                </a:solidFill>
                <a:latin typeface="Lucida Sans"/>
                <a:cs typeface="Lucida Sans"/>
              </a:rPr>
              <a:t>AI.</a:t>
            </a:r>
            <a:endParaRPr sz="3600">
              <a:latin typeface="Lucida Sans"/>
              <a:cs typeface="Lucida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352391" y="1082057"/>
            <a:ext cx="916305" cy="916305"/>
          </a:xfrm>
          <a:custGeom>
            <a:avLst/>
            <a:gdLst/>
            <a:ahLst/>
            <a:cxnLst/>
            <a:rect l="l" t="t" r="r" b="b"/>
            <a:pathLst>
              <a:path w="916305" h="916305">
                <a:moveTo>
                  <a:pt x="915974" y="0"/>
                </a:moveTo>
                <a:lnTo>
                  <a:pt x="31445" y="7315"/>
                </a:lnTo>
                <a:lnTo>
                  <a:pt x="29616" y="118033"/>
                </a:lnTo>
                <a:lnTo>
                  <a:pt x="726147" y="112318"/>
                </a:lnTo>
                <a:lnTo>
                  <a:pt x="0" y="838454"/>
                </a:lnTo>
                <a:lnTo>
                  <a:pt x="77444" y="915898"/>
                </a:lnTo>
                <a:lnTo>
                  <a:pt x="803592" y="189763"/>
                </a:lnTo>
                <a:lnTo>
                  <a:pt x="797331" y="885748"/>
                </a:lnTo>
                <a:lnTo>
                  <a:pt x="908659" y="884529"/>
                </a:lnTo>
                <a:lnTo>
                  <a:pt x="915974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18442" y="766051"/>
            <a:ext cx="10126345" cy="13315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50" spc="-355"/>
              <a:t>PROBLEM</a:t>
            </a:r>
            <a:r>
              <a:rPr dirty="0" sz="8550" spc="405"/>
              <a:t>  </a:t>
            </a:r>
            <a:r>
              <a:rPr dirty="0" sz="8550" spc="-70"/>
              <a:t>STATEMENT</a:t>
            </a:r>
            <a:endParaRPr sz="8550"/>
          </a:p>
        </p:txBody>
      </p:sp>
      <p:sp>
        <p:nvSpPr>
          <p:cNvPr id="3" name="object 3"/>
          <p:cNvSpPr/>
          <p:nvPr/>
        </p:nvSpPr>
        <p:spPr>
          <a:xfrm>
            <a:off x="16352391" y="1082057"/>
            <a:ext cx="916305" cy="916305"/>
          </a:xfrm>
          <a:custGeom>
            <a:avLst/>
            <a:gdLst/>
            <a:ahLst/>
            <a:cxnLst/>
            <a:rect l="l" t="t" r="r" b="b"/>
            <a:pathLst>
              <a:path w="916305" h="916305">
                <a:moveTo>
                  <a:pt x="915974" y="0"/>
                </a:moveTo>
                <a:lnTo>
                  <a:pt x="31445" y="7315"/>
                </a:lnTo>
                <a:lnTo>
                  <a:pt x="29616" y="118033"/>
                </a:lnTo>
                <a:lnTo>
                  <a:pt x="726147" y="112318"/>
                </a:lnTo>
                <a:lnTo>
                  <a:pt x="0" y="838454"/>
                </a:lnTo>
                <a:lnTo>
                  <a:pt x="77444" y="915898"/>
                </a:lnTo>
                <a:lnTo>
                  <a:pt x="803592" y="189763"/>
                </a:lnTo>
                <a:lnTo>
                  <a:pt x="797331" y="885748"/>
                </a:lnTo>
                <a:lnTo>
                  <a:pt x="908659" y="884529"/>
                </a:lnTo>
                <a:lnTo>
                  <a:pt x="915974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18442" y="2121434"/>
            <a:ext cx="10430510" cy="7325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63830">
              <a:lnSpc>
                <a:spcPct val="100000"/>
              </a:lnSpc>
              <a:spcBef>
                <a:spcPts val="100"/>
              </a:spcBef>
            </a:pPr>
            <a:r>
              <a:rPr dirty="0" sz="3600" spc="229">
                <a:solidFill>
                  <a:srgbClr val="222222"/>
                </a:solidFill>
                <a:latin typeface="Segoe UI Semilight"/>
                <a:cs typeface="Segoe UI Semilight"/>
              </a:rPr>
              <a:t>Fragmented</a:t>
            </a:r>
            <a:r>
              <a:rPr dirty="0" sz="3600" spc="-11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90">
                <a:solidFill>
                  <a:srgbClr val="222222"/>
                </a:solidFill>
                <a:latin typeface="Segoe UI Semilight"/>
                <a:cs typeface="Segoe UI Semilight"/>
              </a:rPr>
              <a:t>Market</a:t>
            </a:r>
            <a:r>
              <a:rPr dirty="0" sz="3600" spc="-10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95">
                <a:solidFill>
                  <a:srgbClr val="222222"/>
                </a:solidFill>
                <a:latin typeface="Segoe UI Semilight"/>
                <a:cs typeface="Segoe UI Semilight"/>
              </a:rPr>
              <a:t>Data</a:t>
            </a:r>
            <a:r>
              <a:rPr dirty="0" sz="3600" spc="-10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>
                <a:solidFill>
                  <a:srgbClr val="222222"/>
                </a:solidFill>
                <a:latin typeface="Segoe UI Semilight"/>
                <a:cs typeface="Segoe UI Semilight"/>
              </a:rPr>
              <a:t>&amp;</a:t>
            </a:r>
            <a:r>
              <a:rPr dirty="0" sz="3600" spc="-22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225">
                <a:solidFill>
                  <a:srgbClr val="222222"/>
                </a:solidFill>
                <a:latin typeface="Segoe UI Semilight"/>
                <a:cs typeface="Segoe UI Semilight"/>
              </a:rPr>
              <a:t>Analysis</a:t>
            </a:r>
            <a:r>
              <a:rPr dirty="0" sz="3600" spc="-10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220">
                <a:solidFill>
                  <a:srgbClr val="222222"/>
                </a:solidFill>
                <a:latin typeface="Segoe UI Semilight"/>
                <a:cs typeface="Segoe UI Semilight"/>
              </a:rPr>
              <a:t>Mismatch</a:t>
            </a:r>
            <a:r>
              <a:rPr dirty="0" sz="3600" spc="-11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40">
                <a:solidFill>
                  <a:srgbClr val="222222"/>
                </a:solidFill>
                <a:latin typeface="Segoe UI Semilight"/>
                <a:cs typeface="Segoe UI Semilight"/>
              </a:rPr>
              <a:t>: </a:t>
            </a:r>
            <a:r>
              <a:rPr dirty="0" sz="3600" spc="125">
                <a:solidFill>
                  <a:srgbClr val="222222"/>
                </a:solidFill>
                <a:latin typeface="Segoe UI Semilight"/>
                <a:cs typeface="Segoe UI Semilight"/>
              </a:rPr>
              <a:t>Investors</a:t>
            </a:r>
            <a:r>
              <a:rPr dirty="0" sz="3600" spc="-5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55">
                <a:solidFill>
                  <a:srgbClr val="222222"/>
                </a:solidFill>
                <a:latin typeface="Segoe UI Semilight"/>
                <a:cs typeface="Segoe UI Semilight"/>
              </a:rPr>
              <a:t>have</a:t>
            </a:r>
            <a:r>
              <a:rPr dirty="0" sz="3600" spc="-5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265">
                <a:solidFill>
                  <a:srgbClr val="222222"/>
                </a:solidFill>
                <a:latin typeface="Segoe UI Semilight"/>
                <a:cs typeface="Segoe UI Semilight"/>
              </a:rPr>
              <a:t>access</a:t>
            </a:r>
            <a:r>
              <a:rPr dirty="0" sz="36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>
                <a:solidFill>
                  <a:srgbClr val="222222"/>
                </a:solidFill>
                <a:latin typeface="Segoe UI Semilight"/>
                <a:cs typeface="Segoe UI Semilight"/>
              </a:rPr>
              <a:t>to</a:t>
            </a:r>
            <a:r>
              <a:rPr dirty="0" sz="3600" spc="-5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60">
                <a:solidFill>
                  <a:srgbClr val="222222"/>
                </a:solidFill>
                <a:latin typeface="Segoe UI Semilight"/>
                <a:cs typeface="Segoe UI Semilight"/>
              </a:rPr>
              <a:t>raw</a:t>
            </a:r>
            <a:r>
              <a:rPr dirty="0" sz="3600" spc="-15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85">
                <a:solidFill>
                  <a:srgbClr val="222222"/>
                </a:solidFill>
                <a:latin typeface="Segoe UI Semilight"/>
                <a:cs typeface="Segoe UI Semilight"/>
              </a:rPr>
              <a:t>stock</a:t>
            </a:r>
            <a:r>
              <a:rPr dirty="0" sz="36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35">
                <a:solidFill>
                  <a:srgbClr val="222222"/>
                </a:solidFill>
                <a:latin typeface="Segoe UI Semilight"/>
                <a:cs typeface="Segoe UI Semilight"/>
              </a:rPr>
              <a:t>records</a:t>
            </a:r>
            <a:r>
              <a:rPr dirty="0" sz="3600" spc="-5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95">
                <a:solidFill>
                  <a:srgbClr val="222222"/>
                </a:solidFill>
                <a:latin typeface="Segoe UI Semilight"/>
                <a:cs typeface="Segoe UI Semilight"/>
              </a:rPr>
              <a:t>but </a:t>
            </a:r>
            <a:r>
              <a:rPr dirty="0" sz="3600" spc="220">
                <a:solidFill>
                  <a:srgbClr val="222222"/>
                </a:solidFill>
                <a:latin typeface="Segoe UI Semilight"/>
                <a:cs typeface="Segoe UI Semilight"/>
              </a:rPr>
              <a:t>lack</a:t>
            </a:r>
            <a:r>
              <a:rPr dirty="0" sz="36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45">
                <a:solidFill>
                  <a:srgbClr val="222222"/>
                </a:solidFill>
                <a:latin typeface="Segoe UI Semilight"/>
                <a:cs typeface="Segoe UI Semilight"/>
              </a:rPr>
              <a:t>analytical</a:t>
            </a:r>
            <a:r>
              <a:rPr dirty="0" sz="3600" spc="-16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10">
                <a:solidFill>
                  <a:srgbClr val="222222"/>
                </a:solidFill>
                <a:latin typeface="Segoe UI Semilight"/>
                <a:cs typeface="Segoe UI Semilight"/>
              </a:rPr>
              <a:t>tools</a:t>
            </a:r>
            <a:r>
              <a:rPr dirty="0" sz="3600" spc="-4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>
                <a:solidFill>
                  <a:srgbClr val="222222"/>
                </a:solidFill>
                <a:latin typeface="Segoe UI Semilight"/>
                <a:cs typeface="Segoe UI Semilight"/>
              </a:rPr>
              <a:t>to</a:t>
            </a:r>
            <a:r>
              <a:rPr dirty="0" sz="36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75">
                <a:solidFill>
                  <a:srgbClr val="222222"/>
                </a:solidFill>
                <a:latin typeface="Segoe UI Semilight"/>
                <a:cs typeface="Segoe UI Semilight"/>
              </a:rPr>
              <a:t>interpret</a:t>
            </a:r>
            <a:r>
              <a:rPr dirty="0" sz="3600" spc="-4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40">
                <a:solidFill>
                  <a:srgbClr val="222222"/>
                </a:solidFill>
                <a:latin typeface="Segoe UI Semilight"/>
                <a:cs typeface="Segoe UI Semilight"/>
              </a:rPr>
              <a:t>price </a:t>
            </a:r>
            <a:r>
              <a:rPr dirty="0" sz="3600" spc="95">
                <a:solidFill>
                  <a:srgbClr val="222222"/>
                </a:solidFill>
                <a:latin typeface="Segoe UI Semilight"/>
                <a:cs typeface="Segoe UI Semilight"/>
              </a:rPr>
              <a:t>distributions,</a:t>
            </a:r>
            <a:r>
              <a:rPr dirty="0" sz="3600" spc="-5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45">
                <a:solidFill>
                  <a:srgbClr val="222222"/>
                </a:solidFill>
                <a:latin typeface="Segoe UI Semilight"/>
                <a:cs typeface="Segoe UI Semilight"/>
              </a:rPr>
              <a:t>market</a:t>
            </a:r>
            <a:r>
              <a:rPr dirty="0" sz="36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10">
                <a:solidFill>
                  <a:srgbClr val="222222"/>
                </a:solidFill>
                <a:latin typeface="Segoe UI Semilight"/>
                <a:cs typeface="Segoe UI Semilight"/>
              </a:rPr>
              <a:t>trends,</a:t>
            </a:r>
            <a:r>
              <a:rPr dirty="0" sz="3600" spc="-5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35">
                <a:solidFill>
                  <a:srgbClr val="222222"/>
                </a:solidFill>
                <a:latin typeface="Segoe UI Semilight"/>
                <a:cs typeface="Segoe UI Semilight"/>
              </a:rPr>
              <a:t>and</a:t>
            </a:r>
            <a:r>
              <a:rPr dirty="0" sz="36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14">
                <a:solidFill>
                  <a:srgbClr val="222222"/>
                </a:solidFill>
                <a:latin typeface="Segoe UI Semilight"/>
                <a:cs typeface="Segoe UI Semilight"/>
              </a:rPr>
              <a:t>align</a:t>
            </a:r>
            <a:r>
              <a:rPr dirty="0" sz="36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70">
                <a:solidFill>
                  <a:srgbClr val="222222"/>
                </a:solidFill>
                <a:latin typeface="Segoe UI Semilight"/>
                <a:cs typeface="Segoe UI Semilight"/>
              </a:rPr>
              <a:t>their </a:t>
            </a:r>
            <a:r>
              <a:rPr dirty="0" sz="3600" spc="145">
                <a:solidFill>
                  <a:srgbClr val="222222"/>
                </a:solidFill>
                <a:latin typeface="Segoe UI Semilight"/>
                <a:cs typeface="Segoe UI Semilight"/>
              </a:rPr>
              <a:t>strategies</a:t>
            </a:r>
            <a:r>
              <a:rPr dirty="0" sz="3600" spc="-16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25">
                <a:solidFill>
                  <a:srgbClr val="222222"/>
                </a:solidFill>
                <a:latin typeface="Segoe UI Semilight"/>
                <a:cs typeface="Segoe UI Semilight"/>
              </a:rPr>
              <a:t>with</a:t>
            </a:r>
            <a:r>
              <a:rPr dirty="0" sz="3600" spc="-6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55">
                <a:solidFill>
                  <a:srgbClr val="222222"/>
                </a:solidFill>
                <a:latin typeface="Segoe UI Semilight"/>
                <a:cs typeface="Segoe UI Semilight"/>
              </a:rPr>
              <a:t>specific</a:t>
            </a:r>
            <a:r>
              <a:rPr dirty="0" sz="3600" spc="-6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65">
                <a:solidFill>
                  <a:srgbClr val="222222"/>
                </a:solidFill>
                <a:latin typeface="Segoe UI Semilight"/>
                <a:cs typeface="Segoe UI Semilight"/>
              </a:rPr>
              <a:t>technical</a:t>
            </a:r>
            <a:r>
              <a:rPr dirty="0" sz="3600" spc="-17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00">
                <a:solidFill>
                  <a:srgbClr val="222222"/>
                </a:solidFill>
                <a:latin typeface="Segoe UI Semilight"/>
                <a:cs typeface="Segoe UI Semilight"/>
              </a:rPr>
              <a:t>requirements.</a:t>
            </a:r>
            <a:endParaRPr sz="3600">
              <a:latin typeface="Segoe UI Semilight"/>
              <a:cs typeface="Segoe UI Semilight"/>
            </a:endParaRPr>
          </a:p>
          <a:p>
            <a:pPr marL="12700" marR="805815">
              <a:lnSpc>
                <a:spcPts val="3600"/>
              </a:lnSpc>
              <a:spcBef>
                <a:spcPts val="3600"/>
              </a:spcBef>
            </a:pPr>
            <a:r>
              <a:rPr dirty="0" sz="3600" spc="225">
                <a:solidFill>
                  <a:srgbClr val="222222"/>
                </a:solidFill>
                <a:latin typeface="Segoe UI Semilight"/>
                <a:cs typeface="Segoe UI Semilight"/>
              </a:rPr>
              <a:t>Ineﬀective</a:t>
            </a:r>
            <a:r>
              <a:rPr dirty="0" sz="3600" spc="-21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210">
                <a:solidFill>
                  <a:srgbClr val="222222"/>
                </a:solidFill>
                <a:latin typeface="Segoe UI Semilight"/>
                <a:cs typeface="Segoe UI Semilight"/>
              </a:rPr>
              <a:t>Timing</a:t>
            </a:r>
            <a:r>
              <a:rPr dirty="0" sz="3600" spc="-10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>
                <a:solidFill>
                  <a:srgbClr val="222222"/>
                </a:solidFill>
                <a:latin typeface="Segoe UI Semilight"/>
                <a:cs typeface="Segoe UI Semilight"/>
              </a:rPr>
              <a:t>&amp;</a:t>
            </a:r>
            <a:r>
              <a:rPr dirty="0" sz="3600" spc="-11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229">
                <a:solidFill>
                  <a:srgbClr val="222222"/>
                </a:solidFill>
                <a:latin typeface="Segoe UI Semilight"/>
                <a:cs typeface="Segoe UI Semilight"/>
              </a:rPr>
              <a:t>Strategy</a:t>
            </a:r>
            <a:r>
              <a:rPr dirty="0" sz="3600" spc="-32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220">
                <a:solidFill>
                  <a:srgbClr val="222222"/>
                </a:solidFill>
                <a:latin typeface="Segoe UI Semilight"/>
                <a:cs typeface="Segoe UI Semilight"/>
              </a:rPr>
              <a:t>Alignment</a:t>
            </a:r>
            <a:r>
              <a:rPr dirty="0" sz="3600" spc="-10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40">
                <a:solidFill>
                  <a:srgbClr val="222222"/>
                </a:solidFill>
                <a:latin typeface="Segoe UI Semilight"/>
                <a:cs typeface="Segoe UI Semilight"/>
              </a:rPr>
              <a:t>: </a:t>
            </a:r>
            <a:r>
              <a:rPr dirty="0" sz="3000" spc="100">
                <a:solidFill>
                  <a:srgbClr val="222222"/>
                </a:solidFill>
                <a:latin typeface="Segoe UI Semilight"/>
                <a:cs typeface="Segoe UI Semilight"/>
              </a:rPr>
              <a:t>Traders</a:t>
            </a:r>
            <a:r>
              <a:rPr dirty="0" sz="3000" spc="-3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65">
                <a:solidFill>
                  <a:srgbClr val="222222"/>
                </a:solidFill>
                <a:latin typeface="Segoe UI Semilight"/>
                <a:cs typeface="Segoe UI Semilight"/>
              </a:rPr>
              <a:t>face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50">
                <a:solidFill>
                  <a:srgbClr val="222222"/>
                </a:solidFill>
                <a:latin typeface="Segoe UI Semilight"/>
                <a:cs typeface="Segoe UI Semilight"/>
              </a:rPr>
              <a:t>gaps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>
                <a:solidFill>
                  <a:srgbClr val="222222"/>
                </a:solidFill>
                <a:latin typeface="Segoe UI Semilight"/>
                <a:cs typeface="Segoe UI Semilight"/>
              </a:rPr>
              <a:t>in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20">
                <a:solidFill>
                  <a:srgbClr val="222222"/>
                </a:solidFill>
                <a:latin typeface="Segoe UI Semilight"/>
                <a:cs typeface="Segoe UI Semilight"/>
              </a:rPr>
              <a:t>market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30">
                <a:solidFill>
                  <a:srgbClr val="222222"/>
                </a:solidFill>
                <a:latin typeface="Segoe UI Semilight"/>
                <a:cs typeface="Segoe UI Semilight"/>
              </a:rPr>
              <a:t>readiness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60">
                <a:solidFill>
                  <a:srgbClr val="222222"/>
                </a:solidFill>
                <a:latin typeface="Segoe UI Semilight"/>
                <a:cs typeface="Segoe UI Semilight"/>
              </a:rPr>
              <a:t>due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>
                <a:solidFill>
                  <a:srgbClr val="222222"/>
                </a:solidFill>
                <a:latin typeface="Segoe UI Semilight"/>
                <a:cs typeface="Segoe UI Semilight"/>
              </a:rPr>
              <a:t>to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25">
                <a:solidFill>
                  <a:srgbClr val="222222"/>
                </a:solidFill>
                <a:latin typeface="Segoe UI Semilight"/>
                <a:cs typeface="Segoe UI Semilight"/>
              </a:rPr>
              <a:t>generic </a:t>
            </a:r>
            <a:r>
              <a:rPr dirty="0" sz="3000" spc="130">
                <a:solidFill>
                  <a:srgbClr val="222222"/>
                </a:solidFill>
                <a:latin typeface="Segoe UI Semilight"/>
                <a:cs typeface="Segoe UI Semilight"/>
              </a:rPr>
              <a:t>analysis</a:t>
            </a:r>
            <a:r>
              <a:rPr dirty="0" sz="30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40">
                <a:solidFill>
                  <a:srgbClr val="222222"/>
                </a:solidFill>
                <a:latin typeface="Segoe UI Semilight"/>
                <a:cs typeface="Segoe UI Semilight"/>
              </a:rPr>
              <a:t>methods</a:t>
            </a:r>
            <a:r>
              <a:rPr dirty="0" sz="3000" spc="-4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10">
                <a:solidFill>
                  <a:srgbClr val="222222"/>
                </a:solidFill>
                <a:latin typeface="Segoe UI Semilight"/>
                <a:cs typeface="Segoe UI Semilight"/>
              </a:rPr>
              <a:t>and</a:t>
            </a:r>
            <a:r>
              <a:rPr dirty="0" sz="3000" spc="-4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35">
                <a:solidFill>
                  <a:srgbClr val="222222"/>
                </a:solidFill>
                <a:latin typeface="Segoe UI Semilight"/>
                <a:cs typeface="Segoe UI Semilight"/>
              </a:rPr>
              <a:t>manually</a:t>
            </a:r>
            <a:r>
              <a:rPr dirty="0" sz="3000" spc="-12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75">
                <a:solidFill>
                  <a:srgbClr val="222222"/>
                </a:solidFill>
                <a:latin typeface="Segoe UI Semilight"/>
                <a:cs typeface="Segoe UI Semilight"/>
              </a:rPr>
              <a:t>built</a:t>
            </a:r>
            <a:r>
              <a:rPr dirty="0" sz="3000" spc="-4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40">
                <a:solidFill>
                  <a:srgbClr val="222222"/>
                </a:solidFill>
                <a:latin typeface="Segoe UI Semilight"/>
                <a:cs typeface="Segoe UI Semilight"/>
              </a:rPr>
              <a:t>charts</a:t>
            </a:r>
            <a:r>
              <a:rPr dirty="0" sz="30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75">
                <a:solidFill>
                  <a:srgbClr val="222222"/>
                </a:solidFill>
                <a:latin typeface="Segoe UI Semilight"/>
                <a:cs typeface="Segoe UI Semilight"/>
              </a:rPr>
              <a:t>that</a:t>
            </a:r>
            <a:r>
              <a:rPr dirty="0" sz="3000" spc="-4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85">
                <a:solidFill>
                  <a:srgbClr val="222222"/>
                </a:solidFill>
                <a:latin typeface="Segoe UI Semilight"/>
                <a:cs typeface="Segoe UI Semilight"/>
              </a:rPr>
              <a:t>do</a:t>
            </a:r>
            <a:r>
              <a:rPr dirty="0" sz="3000" spc="-4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25">
                <a:solidFill>
                  <a:srgbClr val="222222"/>
                </a:solidFill>
                <a:latin typeface="Segoe UI Semilight"/>
                <a:cs typeface="Segoe UI Semilight"/>
              </a:rPr>
              <a:t>not</a:t>
            </a:r>
            <a:endParaRPr sz="3000">
              <a:latin typeface="Segoe UI Semilight"/>
              <a:cs typeface="Segoe UI Semilight"/>
            </a:endParaRPr>
          </a:p>
          <a:p>
            <a:pPr marL="12700">
              <a:lnSpc>
                <a:spcPts val="3479"/>
              </a:lnSpc>
            </a:pPr>
            <a:r>
              <a:rPr dirty="0" sz="3000" spc="85">
                <a:solidFill>
                  <a:srgbClr val="222222"/>
                </a:solidFill>
                <a:latin typeface="Segoe UI Semilight"/>
                <a:cs typeface="Segoe UI Semilight"/>
              </a:rPr>
              <a:t>align</a:t>
            </a:r>
            <a:r>
              <a:rPr dirty="0" sz="3000" spc="-12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05">
                <a:solidFill>
                  <a:srgbClr val="222222"/>
                </a:solidFill>
                <a:latin typeface="Segoe UI Semilight"/>
                <a:cs typeface="Segoe UI Semilight"/>
              </a:rPr>
              <a:t>with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70">
                <a:solidFill>
                  <a:srgbClr val="222222"/>
                </a:solidFill>
                <a:latin typeface="Segoe UI Semilight"/>
                <a:cs typeface="Segoe UI Semilight"/>
              </a:rPr>
              <a:t>high</a:t>
            </a:r>
            <a:r>
              <a:rPr dirty="0" sz="3000" spc="-3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40">
                <a:solidFill>
                  <a:srgbClr val="222222"/>
                </a:solidFill>
                <a:latin typeface="Segoe UI Semilight"/>
                <a:cs typeface="Segoe UI Semilight"/>
              </a:rPr>
              <a:t>frequency</a:t>
            </a:r>
            <a:r>
              <a:rPr dirty="0" sz="3000" spc="-114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60">
                <a:solidFill>
                  <a:srgbClr val="222222"/>
                </a:solidFill>
                <a:latin typeface="Segoe UI Semilight"/>
                <a:cs typeface="Segoe UI Semilight"/>
              </a:rPr>
              <a:t>systems,</a:t>
            </a:r>
            <a:r>
              <a:rPr dirty="0" sz="3000" spc="-3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10">
                <a:solidFill>
                  <a:srgbClr val="222222"/>
                </a:solidFill>
                <a:latin typeface="Segoe UI Semilight"/>
                <a:cs typeface="Segoe UI Semilight"/>
              </a:rPr>
              <a:t>reducing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>
                <a:solidFill>
                  <a:srgbClr val="222222"/>
                </a:solidFill>
                <a:latin typeface="Segoe UI Semilight"/>
                <a:cs typeface="Segoe UI Semilight"/>
              </a:rPr>
              <a:t>profit</a:t>
            </a:r>
            <a:r>
              <a:rPr dirty="0" sz="3000" spc="-3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30">
                <a:solidFill>
                  <a:srgbClr val="222222"/>
                </a:solidFill>
                <a:latin typeface="Segoe UI Semilight"/>
                <a:cs typeface="Segoe UI Semilight"/>
              </a:rPr>
              <a:t>chances.</a:t>
            </a:r>
            <a:endParaRPr sz="3000">
              <a:latin typeface="Segoe UI Semilight"/>
              <a:cs typeface="Segoe UI Semilight"/>
            </a:endParaRPr>
          </a:p>
          <a:p>
            <a:pPr marL="12700">
              <a:lnSpc>
                <a:spcPts val="4260"/>
              </a:lnSpc>
              <a:spcBef>
                <a:spcPts val="3000"/>
              </a:spcBef>
            </a:pPr>
            <a:r>
              <a:rPr dirty="0" sz="3600" spc="335">
                <a:solidFill>
                  <a:srgbClr val="222222"/>
                </a:solidFill>
                <a:latin typeface="Segoe UI Semilight"/>
                <a:cs typeface="Segoe UI Semilight"/>
              </a:rPr>
              <a:t>Lack</a:t>
            </a:r>
            <a:r>
              <a:rPr dirty="0" sz="3600" spc="-11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65">
                <a:solidFill>
                  <a:srgbClr val="222222"/>
                </a:solidFill>
                <a:latin typeface="Segoe UI Semilight"/>
                <a:cs typeface="Segoe UI Semilight"/>
              </a:rPr>
              <a:t>of</a:t>
            </a:r>
            <a:r>
              <a:rPr dirty="0" sz="3600" spc="-18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75">
                <a:solidFill>
                  <a:srgbClr val="222222"/>
                </a:solidFill>
                <a:latin typeface="Segoe UI Semilight"/>
                <a:cs typeface="Segoe UI Semilight"/>
              </a:rPr>
              <a:t>Mentorship</a:t>
            </a:r>
            <a:r>
              <a:rPr dirty="0" sz="3600" spc="-10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>
                <a:solidFill>
                  <a:srgbClr val="222222"/>
                </a:solidFill>
                <a:latin typeface="Segoe UI Semilight"/>
                <a:cs typeface="Segoe UI Semilight"/>
              </a:rPr>
              <a:t>&amp;</a:t>
            </a:r>
            <a:r>
              <a:rPr dirty="0" sz="3600" spc="-11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175">
                <a:solidFill>
                  <a:srgbClr val="222222"/>
                </a:solidFill>
                <a:latin typeface="Segoe UI Semilight"/>
                <a:cs typeface="Segoe UI Semilight"/>
              </a:rPr>
              <a:t>Direction</a:t>
            </a:r>
            <a:r>
              <a:rPr dirty="0" sz="3600" spc="-10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600" spc="40">
                <a:solidFill>
                  <a:srgbClr val="222222"/>
                </a:solidFill>
                <a:latin typeface="Segoe UI Semilight"/>
                <a:cs typeface="Segoe UI Semilight"/>
              </a:rPr>
              <a:t>:</a:t>
            </a:r>
            <a:endParaRPr sz="3600">
              <a:latin typeface="Segoe UI Semilight"/>
              <a:cs typeface="Segoe UI Semilight"/>
            </a:endParaRPr>
          </a:p>
          <a:p>
            <a:pPr marL="12700" marR="5080">
              <a:lnSpc>
                <a:spcPts val="3600"/>
              </a:lnSpc>
              <a:spcBef>
                <a:spcPts val="40"/>
              </a:spcBef>
            </a:pPr>
            <a:r>
              <a:rPr dirty="0" sz="3000" spc="125">
                <a:solidFill>
                  <a:srgbClr val="222222"/>
                </a:solidFill>
                <a:latin typeface="Segoe UI Semilight"/>
                <a:cs typeface="Segoe UI Semilight"/>
              </a:rPr>
              <a:t>Limited</a:t>
            </a:r>
            <a:r>
              <a:rPr dirty="0" sz="3000" spc="-4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215">
                <a:solidFill>
                  <a:srgbClr val="222222"/>
                </a:solidFill>
                <a:latin typeface="Segoe UI Semilight"/>
                <a:cs typeface="Segoe UI Semilight"/>
              </a:rPr>
              <a:t>access</a:t>
            </a:r>
            <a:r>
              <a:rPr dirty="0" sz="3000" spc="-4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>
                <a:solidFill>
                  <a:srgbClr val="222222"/>
                </a:solidFill>
                <a:latin typeface="Segoe UI Semilight"/>
                <a:cs typeface="Segoe UI Semilight"/>
              </a:rPr>
              <a:t>to</a:t>
            </a:r>
            <a:r>
              <a:rPr dirty="0" sz="3000" spc="-3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95">
                <a:solidFill>
                  <a:srgbClr val="222222"/>
                </a:solidFill>
                <a:latin typeface="Segoe UI Semilight"/>
                <a:cs typeface="Segoe UI Semilight"/>
              </a:rPr>
              <a:t>professional</a:t>
            </a:r>
            <a:r>
              <a:rPr dirty="0" sz="3000" spc="-13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40">
                <a:solidFill>
                  <a:srgbClr val="222222"/>
                </a:solidFill>
                <a:latin typeface="Segoe UI Semilight"/>
                <a:cs typeface="Segoe UI Semilight"/>
              </a:rPr>
              <a:t>analysts</a:t>
            </a:r>
            <a:r>
              <a:rPr dirty="0" sz="3000" spc="-4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10">
                <a:solidFill>
                  <a:srgbClr val="222222"/>
                </a:solidFill>
                <a:latin typeface="Segoe UI Semilight"/>
                <a:cs typeface="Segoe UI Semilight"/>
              </a:rPr>
              <a:t>and</a:t>
            </a:r>
            <a:r>
              <a:rPr dirty="0" sz="3000" spc="-3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95">
                <a:solidFill>
                  <a:srgbClr val="222222"/>
                </a:solidFill>
                <a:latin typeface="Segoe UI Semilight"/>
                <a:cs typeface="Segoe UI Semilight"/>
              </a:rPr>
              <a:t>real-</a:t>
            </a:r>
            <a:r>
              <a:rPr dirty="0" sz="3000" spc="90">
                <a:solidFill>
                  <a:srgbClr val="222222"/>
                </a:solidFill>
                <a:latin typeface="Segoe UI Semilight"/>
                <a:cs typeface="Segoe UI Semilight"/>
              </a:rPr>
              <a:t>time </a:t>
            </a:r>
            <a:r>
              <a:rPr dirty="0" sz="3000" spc="125">
                <a:solidFill>
                  <a:srgbClr val="222222"/>
                </a:solidFill>
                <a:latin typeface="Segoe UI Semilight"/>
                <a:cs typeface="Segoe UI Semilight"/>
              </a:rPr>
              <a:t>technical</a:t>
            </a:r>
            <a:r>
              <a:rPr dirty="0" sz="3000" spc="-12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85">
                <a:solidFill>
                  <a:srgbClr val="222222"/>
                </a:solidFill>
                <a:latin typeface="Segoe UI Semilight"/>
                <a:cs typeface="Segoe UI Semilight"/>
              </a:rPr>
              <a:t>insights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00">
                <a:solidFill>
                  <a:srgbClr val="222222"/>
                </a:solidFill>
                <a:latin typeface="Segoe UI Semilight"/>
                <a:cs typeface="Segoe UI Semilight"/>
              </a:rPr>
              <a:t>contributes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>
                <a:solidFill>
                  <a:srgbClr val="222222"/>
                </a:solidFill>
                <a:latin typeface="Segoe UI Semilight"/>
                <a:cs typeface="Segoe UI Semilight"/>
              </a:rPr>
              <a:t>to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10">
                <a:solidFill>
                  <a:srgbClr val="222222"/>
                </a:solidFill>
                <a:latin typeface="Segoe UI Semilight"/>
                <a:cs typeface="Segoe UI Semilight"/>
              </a:rPr>
              <a:t>an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20">
                <a:solidFill>
                  <a:srgbClr val="222222"/>
                </a:solidFill>
                <a:latin typeface="Segoe UI Semilight"/>
                <a:cs typeface="Segoe UI Semilight"/>
              </a:rPr>
              <a:t>investment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95">
                <a:solidFill>
                  <a:srgbClr val="222222"/>
                </a:solidFill>
                <a:latin typeface="Segoe UI Semilight"/>
                <a:cs typeface="Segoe UI Semilight"/>
              </a:rPr>
              <a:t>gap,</a:t>
            </a:r>
            <a:r>
              <a:rPr dirty="0" sz="3000" spc="-30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00">
                <a:solidFill>
                  <a:srgbClr val="222222"/>
                </a:solidFill>
                <a:latin typeface="Segoe UI Semilight"/>
                <a:cs typeface="Segoe UI Semilight"/>
              </a:rPr>
              <a:t>making </a:t>
            </a:r>
            <a:r>
              <a:rPr dirty="0" sz="3000" spc="120">
                <a:solidFill>
                  <a:srgbClr val="222222"/>
                </a:solidFill>
                <a:latin typeface="Segoe UI Semilight"/>
                <a:cs typeface="Segoe UI Semilight"/>
              </a:rPr>
              <a:t>the</a:t>
            </a:r>
            <a:r>
              <a:rPr dirty="0" sz="30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65">
                <a:solidFill>
                  <a:srgbClr val="222222"/>
                </a:solidFill>
                <a:latin typeface="Segoe UI Semilight"/>
                <a:cs typeface="Segoe UI Semilight"/>
              </a:rPr>
              <a:t>transition</a:t>
            </a:r>
            <a:r>
              <a:rPr dirty="0" sz="30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75">
                <a:solidFill>
                  <a:srgbClr val="222222"/>
                </a:solidFill>
                <a:latin typeface="Segoe UI Semilight"/>
                <a:cs typeface="Segoe UI Semilight"/>
              </a:rPr>
              <a:t>from</a:t>
            </a:r>
            <a:r>
              <a:rPr dirty="0" sz="30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140">
                <a:solidFill>
                  <a:srgbClr val="222222"/>
                </a:solidFill>
                <a:latin typeface="Segoe UI Semilight"/>
                <a:cs typeface="Segoe UI Semilight"/>
              </a:rPr>
              <a:t>basic</a:t>
            </a:r>
            <a:r>
              <a:rPr dirty="0" sz="30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>
                <a:solidFill>
                  <a:srgbClr val="222222"/>
                </a:solidFill>
                <a:latin typeface="Segoe UI Semilight"/>
                <a:cs typeface="Segoe UI Semilight"/>
              </a:rPr>
              <a:t>to</a:t>
            </a:r>
            <a:r>
              <a:rPr dirty="0" sz="30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95">
                <a:solidFill>
                  <a:srgbClr val="222222"/>
                </a:solidFill>
                <a:latin typeface="Segoe UI Semilight"/>
                <a:cs typeface="Segoe UI Semilight"/>
              </a:rPr>
              <a:t>professional</a:t>
            </a:r>
            <a:r>
              <a:rPr dirty="0" sz="3000" spc="-13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70">
                <a:solidFill>
                  <a:srgbClr val="222222"/>
                </a:solidFill>
                <a:latin typeface="Segoe UI Semilight"/>
                <a:cs typeface="Segoe UI Semilight"/>
              </a:rPr>
              <a:t>trading</a:t>
            </a:r>
            <a:r>
              <a:rPr dirty="0" sz="3000" spc="-45">
                <a:solidFill>
                  <a:srgbClr val="222222"/>
                </a:solidFill>
                <a:latin typeface="Segoe UI Semilight"/>
                <a:cs typeface="Segoe UI Semilight"/>
              </a:rPr>
              <a:t> </a:t>
            </a:r>
            <a:r>
              <a:rPr dirty="0" sz="3000" spc="-10">
                <a:solidFill>
                  <a:srgbClr val="222222"/>
                </a:solidFill>
                <a:latin typeface="Segoe UI Semilight"/>
                <a:cs typeface="Segoe UI Semilight"/>
              </a:rPr>
              <a:t>ineﬃcient.</a:t>
            </a:r>
            <a:endParaRPr sz="3000">
              <a:latin typeface="Segoe UI Semilight"/>
              <a:cs typeface="Segoe UI Semi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227" rIns="0" bIns="0" rtlCol="0" vert="horz">
            <a:spAutoFit/>
          </a:bodyPr>
          <a:lstStyle/>
          <a:p>
            <a:pPr marL="513080">
              <a:lnSpc>
                <a:spcPct val="100000"/>
              </a:lnSpc>
              <a:spcBef>
                <a:spcPts val="100"/>
              </a:spcBef>
            </a:pPr>
            <a:r>
              <a:rPr dirty="0" sz="6000" spc="645"/>
              <a:t>Tools</a:t>
            </a:r>
            <a:endParaRPr sz="6000"/>
          </a:p>
        </p:txBody>
      </p:sp>
      <p:sp>
        <p:nvSpPr>
          <p:cNvPr id="3" name="object 3"/>
          <p:cNvSpPr/>
          <p:nvPr/>
        </p:nvSpPr>
        <p:spPr>
          <a:xfrm>
            <a:off x="16352391" y="1082057"/>
            <a:ext cx="916305" cy="916305"/>
          </a:xfrm>
          <a:custGeom>
            <a:avLst/>
            <a:gdLst/>
            <a:ahLst/>
            <a:cxnLst/>
            <a:rect l="l" t="t" r="r" b="b"/>
            <a:pathLst>
              <a:path w="916305" h="916305">
                <a:moveTo>
                  <a:pt x="915974" y="0"/>
                </a:moveTo>
                <a:lnTo>
                  <a:pt x="31445" y="7315"/>
                </a:lnTo>
                <a:lnTo>
                  <a:pt x="29616" y="118033"/>
                </a:lnTo>
                <a:lnTo>
                  <a:pt x="726147" y="112318"/>
                </a:lnTo>
                <a:lnTo>
                  <a:pt x="0" y="838454"/>
                </a:lnTo>
                <a:lnTo>
                  <a:pt x="77444" y="915898"/>
                </a:lnTo>
                <a:lnTo>
                  <a:pt x="803592" y="189763"/>
                </a:lnTo>
                <a:lnTo>
                  <a:pt x="797331" y="885748"/>
                </a:lnTo>
                <a:lnTo>
                  <a:pt x="908659" y="884529"/>
                </a:lnTo>
                <a:lnTo>
                  <a:pt x="915974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1147" y="2005012"/>
            <a:ext cx="13021362" cy="30744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1147" y="5143500"/>
            <a:ext cx="13021385" cy="3992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227" rIns="0" bIns="0" rtlCol="0" vert="horz">
            <a:spAutoFit/>
          </a:bodyPr>
          <a:lstStyle/>
          <a:p>
            <a:pPr marL="513080">
              <a:lnSpc>
                <a:spcPct val="100000"/>
              </a:lnSpc>
              <a:spcBef>
                <a:spcPts val="100"/>
              </a:spcBef>
            </a:pPr>
            <a:r>
              <a:rPr dirty="0" sz="6000" spc="645"/>
              <a:t>Tools</a:t>
            </a:r>
            <a:endParaRPr sz="6000"/>
          </a:p>
        </p:txBody>
      </p:sp>
      <p:sp>
        <p:nvSpPr>
          <p:cNvPr id="3" name="object 3"/>
          <p:cNvSpPr/>
          <p:nvPr/>
        </p:nvSpPr>
        <p:spPr>
          <a:xfrm>
            <a:off x="16352391" y="1082057"/>
            <a:ext cx="916305" cy="916305"/>
          </a:xfrm>
          <a:custGeom>
            <a:avLst/>
            <a:gdLst/>
            <a:ahLst/>
            <a:cxnLst/>
            <a:rect l="l" t="t" r="r" b="b"/>
            <a:pathLst>
              <a:path w="916305" h="916305">
                <a:moveTo>
                  <a:pt x="915974" y="0"/>
                </a:moveTo>
                <a:lnTo>
                  <a:pt x="31445" y="7315"/>
                </a:lnTo>
                <a:lnTo>
                  <a:pt x="29616" y="118033"/>
                </a:lnTo>
                <a:lnTo>
                  <a:pt x="726147" y="112318"/>
                </a:lnTo>
                <a:lnTo>
                  <a:pt x="0" y="838454"/>
                </a:lnTo>
                <a:lnTo>
                  <a:pt x="77444" y="915898"/>
                </a:lnTo>
                <a:lnTo>
                  <a:pt x="803592" y="189763"/>
                </a:lnTo>
                <a:lnTo>
                  <a:pt x="797331" y="885748"/>
                </a:lnTo>
                <a:lnTo>
                  <a:pt x="908659" y="884529"/>
                </a:lnTo>
                <a:lnTo>
                  <a:pt x="915974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1147" y="2257425"/>
            <a:ext cx="13021348" cy="26335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1147" y="5409682"/>
            <a:ext cx="13021525" cy="2594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227965">
              <a:lnSpc>
                <a:spcPct val="100000"/>
              </a:lnSpc>
              <a:spcBef>
                <a:spcPts val="100"/>
              </a:spcBef>
            </a:pPr>
            <a:r>
              <a:rPr dirty="0" spc="340"/>
              <a:t>Data</a:t>
            </a:r>
            <a:r>
              <a:rPr dirty="0" spc="165"/>
              <a:t>  </a:t>
            </a:r>
            <a:r>
              <a:rPr dirty="0" spc="590"/>
              <a:t>pipeline:</a:t>
            </a:r>
            <a:r>
              <a:rPr dirty="0" spc="165"/>
              <a:t>  </a:t>
            </a:r>
            <a:r>
              <a:rPr dirty="0" spc="450"/>
              <a:t>yfinance</a:t>
            </a:r>
            <a:r>
              <a:rPr dirty="0" spc="160"/>
              <a:t>  </a:t>
            </a:r>
            <a:r>
              <a:rPr dirty="0">
                <a:latin typeface="Tw Cen MT"/>
                <a:cs typeface="Tw Cen MT"/>
              </a:rPr>
              <a:t>--</a:t>
            </a:r>
            <a:r>
              <a:rPr dirty="0" b="0">
                <a:latin typeface="Eras Bold ITC"/>
                <a:cs typeface="Eras Bold ITC"/>
              </a:rPr>
              <a:t>&gt;</a:t>
            </a:r>
            <a:r>
              <a:rPr dirty="0" spc="85" b="0">
                <a:latin typeface="Eras Bold ITC"/>
                <a:cs typeface="Eras Bold ITC"/>
              </a:rPr>
              <a:t>  </a:t>
            </a:r>
            <a:r>
              <a:rPr dirty="0" spc="229"/>
              <a:t>pandas</a:t>
            </a:r>
            <a:r>
              <a:rPr dirty="0" spc="170"/>
              <a:t>  </a:t>
            </a:r>
            <a:r>
              <a:rPr dirty="0" spc="245"/>
              <a:t>DataFrame</a:t>
            </a:r>
            <a:r>
              <a:rPr dirty="0" spc="165"/>
              <a:t>  </a:t>
            </a:r>
            <a:r>
              <a:rPr dirty="0" spc="570"/>
              <a:t>--</a:t>
            </a:r>
            <a:r>
              <a:rPr dirty="0" spc="1005"/>
              <a:t>&gt;</a:t>
            </a:r>
            <a:r>
              <a:rPr dirty="0" spc="165"/>
              <a:t>  </a:t>
            </a:r>
            <a:r>
              <a:rPr dirty="0" spc="520"/>
              <a:t>feature </a:t>
            </a:r>
            <a:r>
              <a:rPr dirty="0" spc="425"/>
              <a:t>engineering</a:t>
            </a:r>
            <a:r>
              <a:rPr dirty="0" spc="135"/>
              <a:t>  </a:t>
            </a:r>
            <a:r>
              <a:rPr dirty="0">
                <a:latin typeface="Tw Cen MT"/>
                <a:cs typeface="Tw Cen MT"/>
              </a:rPr>
              <a:t>--</a:t>
            </a:r>
            <a:r>
              <a:rPr dirty="0" b="0">
                <a:latin typeface="Eras Bold ITC"/>
                <a:cs typeface="Eras Bold ITC"/>
              </a:rPr>
              <a:t>&gt;</a:t>
            </a:r>
            <a:r>
              <a:rPr dirty="0" spc="60" b="0">
                <a:latin typeface="Eras Bold ITC"/>
                <a:cs typeface="Eras Bold ITC"/>
              </a:rPr>
              <a:t>  </a:t>
            </a:r>
            <a:r>
              <a:rPr dirty="0"/>
              <a:t>ML</a:t>
            </a:r>
            <a:r>
              <a:rPr dirty="0" spc="140"/>
              <a:t>  </a:t>
            </a:r>
            <a:r>
              <a:rPr dirty="0" spc="215"/>
              <a:t>model</a:t>
            </a:r>
            <a:r>
              <a:rPr dirty="0" spc="140"/>
              <a:t>  </a:t>
            </a:r>
            <a:r>
              <a:rPr dirty="0">
                <a:latin typeface="Tw Cen MT"/>
                <a:cs typeface="Tw Cen MT"/>
              </a:rPr>
              <a:t>--</a:t>
            </a:r>
            <a:r>
              <a:rPr dirty="0" b="0">
                <a:latin typeface="Eras Bold ITC"/>
                <a:cs typeface="Eras Bold ITC"/>
              </a:rPr>
              <a:t>&gt;</a:t>
            </a:r>
            <a:r>
              <a:rPr dirty="0" spc="60" b="0">
                <a:latin typeface="Eras Bold ITC"/>
                <a:cs typeface="Eras Bold ITC"/>
              </a:rPr>
              <a:t>  </a:t>
            </a:r>
            <a:r>
              <a:rPr dirty="0"/>
              <a:t>JSON</a:t>
            </a:r>
            <a:r>
              <a:rPr dirty="0" spc="140"/>
              <a:t>  </a:t>
            </a:r>
            <a:r>
              <a:rPr dirty="0" spc="300"/>
              <a:t>response</a:t>
            </a:r>
            <a:r>
              <a:rPr dirty="0" spc="135"/>
              <a:t>  </a:t>
            </a:r>
            <a:r>
              <a:rPr dirty="0">
                <a:latin typeface="Tw Cen MT"/>
                <a:cs typeface="Tw Cen MT"/>
              </a:rPr>
              <a:t>--</a:t>
            </a:r>
            <a:r>
              <a:rPr dirty="0" b="0">
                <a:latin typeface="Eras Bold ITC"/>
                <a:cs typeface="Eras Bold ITC"/>
              </a:rPr>
              <a:t>&gt;</a:t>
            </a:r>
            <a:r>
              <a:rPr dirty="0" spc="65" b="0">
                <a:latin typeface="Eras Bold ITC"/>
                <a:cs typeface="Eras Bold ITC"/>
              </a:rPr>
              <a:t>  </a:t>
            </a:r>
            <a:r>
              <a:rPr dirty="0" spc="500"/>
              <a:t>chart</a:t>
            </a:r>
            <a:r>
              <a:rPr dirty="0" spc="140"/>
              <a:t>  </a:t>
            </a:r>
            <a:r>
              <a:rPr dirty="0" spc="595"/>
              <a:t>in </a:t>
            </a:r>
            <a:r>
              <a:rPr dirty="0" spc="290"/>
              <a:t>browser</a:t>
            </a:r>
          </a:p>
          <a:p>
            <a:pPr>
              <a:lnSpc>
                <a:spcPct val="100000"/>
              </a:lnSpc>
              <a:spcBef>
                <a:spcPts val="180"/>
              </a:spcBef>
            </a:pPr>
          </a:p>
          <a:p>
            <a:pPr marL="12700" marR="5080">
              <a:lnSpc>
                <a:spcPct val="100000"/>
              </a:lnSpc>
            </a:pPr>
            <a:r>
              <a:rPr dirty="0" spc="500"/>
              <a:t>Prediction</a:t>
            </a:r>
            <a:r>
              <a:rPr dirty="0" spc="130"/>
              <a:t>  </a:t>
            </a:r>
            <a:r>
              <a:rPr dirty="0" spc="365"/>
              <a:t>approach:</a:t>
            </a:r>
            <a:r>
              <a:rPr dirty="0" spc="130"/>
              <a:t>  </a:t>
            </a:r>
            <a:r>
              <a:rPr dirty="0" spc="500"/>
              <a:t>Train</a:t>
            </a:r>
            <a:r>
              <a:rPr dirty="0" spc="130"/>
              <a:t>  </a:t>
            </a:r>
            <a:r>
              <a:rPr dirty="0" spc="155"/>
              <a:t>on</a:t>
            </a:r>
            <a:r>
              <a:rPr dirty="0" spc="135"/>
              <a:t>  </a:t>
            </a:r>
            <a:r>
              <a:rPr dirty="0" spc="625"/>
              <a:t>historical</a:t>
            </a:r>
            <a:r>
              <a:rPr dirty="0" spc="130"/>
              <a:t>  </a:t>
            </a:r>
            <a:r>
              <a:rPr dirty="0"/>
              <a:t>OHLCV</a:t>
            </a:r>
            <a:r>
              <a:rPr dirty="0" spc="130"/>
              <a:t>  </a:t>
            </a:r>
            <a:r>
              <a:rPr dirty="0" spc="425"/>
              <a:t>data</a:t>
            </a:r>
            <a:r>
              <a:rPr dirty="0" spc="130"/>
              <a:t>  </a:t>
            </a:r>
            <a:r>
              <a:rPr dirty="0" spc="434"/>
              <a:t>with </a:t>
            </a:r>
            <a:r>
              <a:rPr dirty="0" spc="365"/>
              <a:t>engineered</a:t>
            </a:r>
            <a:r>
              <a:rPr dirty="0" spc="165"/>
              <a:t>  </a:t>
            </a:r>
            <a:r>
              <a:rPr dirty="0" spc="500"/>
              <a:t>features</a:t>
            </a:r>
            <a:r>
              <a:rPr dirty="0" spc="165"/>
              <a:t>  </a:t>
            </a:r>
            <a:r>
              <a:rPr dirty="0" spc="300"/>
              <a:t>(moving</a:t>
            </a:r>
            <a:r>
              <a:rPr dirty="0" spc="165"/>
              <a:t>  </a:t>
            </a:r>
            <a:r>
              <a:rPr dirty="0" spc="425"/>
              <a:t>averages,</a:t>
            </a:r>
            <a:r>
              <a:rPr dirty="0" spc="165"/>
              <a:t>  </a:t>
            </a:r>
            <a:r>
              <a:rPr dirty="0" spc="90"/>
              <a:t>momentum,</a:t>
            </a:r>
            <a:r>
              <a:rPr dirty="0" spc="170"/>
              <a:t>  </a:t>
            </a:r>
            <a:r>
              <a:rPr dirty="0" spc="780"/>
              <a:t>etc.), </a:t>
            </a:r>
            <a:r>
              <a:rPr dirty="0" spc="530"/>
              <a:t>predict</a:t>
            </a:r>
            <a:r>
              <a:rPr dirty="0" spc="165"/>
              <a:t>  </a:t>
            </a:r>
            <a:r>
              <a:rPr dirty="0" spc="550"/>
              <a:t>future</a:t>
            </a:r>
            <a:r>
              <a:rPr dirty="0" spc="170"/>
              <a:t>  </a:t>
            </a:r>
            <a:r>
              <a:rPr dirty="0" spc="470"/>
              <a:t>closing</a:t>
            </a:r>
            <a:r>
              <a:rPr dirty="0" spc="170"/>
              <a:t>  </a:t>
            </a:r>
            <a:r>
              <a:rPr dirty="0" spc="480"/>
              <a:t>prices</a:t>
            </a:r>
          </a:p>
          <a:p>
            <a:pPr>
              <a:lnSpc>
                <a:spcPct val="100000"/>
              </a:lnSpc>
              <a:spcBef>
                <a:spcPts val="185"/>
              </a:spcBef>
            </a:pPr>
          </a:p>
          <a:p>
            <a:pPr marL="12700" marR="490220">
              <a:lnSpc>
                <a:spcPct val="100000"/>
              </a:lnSpc>
            </a:pPr>
            <a:r>
              <a:rPr dirty="0" spc="570"/>
              <a:t>Validation:</a:t>
            </a:r>
            <a:r>
              <a:rPr dirty="0" spc="165"/>
              <a:t>  </a:t>
            </a:r>
            <a:r>
              <a:rPr dirty="0" spc="470"/>
              <a:t>TimeSeriesSplit</a:t>
            </a:r>
            <a:r>
              <a:rPr dirty="0" spc="170"/>
              <a:t>  </a:t>
            </a:r>
            <a:r>
              <a:rPr dirty="0" spc="330"/>
              <a:t>ensures</a:t>
            </a:r>
            <a:r>
              <a:rPr dirty="0" spc="170"/>
              <a:t>  </a:t>
            </a:r>
            <a:r>
              <a:rPr dirty="0" spc="155"/>
              <a:t>no</a:t>
            </a:r>
            <a:r>
              <a:rPr dirty="0" spc="170"/>
              <a:t>  </a:t>
            </a:r>
            <a:r>
              <a:rPr dirty="0" spc="355"/>
              <a:t>look-</a:t>
            </a:r>
            <a:r>
              <a:rPr dirty="0" spc="430"/>
              <a:t>ahead</a:t>
            </a:r>
            <a:r>
              <a:rPr dirty="0" spc="165"/>
              <a:t>  </a:t>
            </a:r>
            <a:r>
              <a:rPr dirty="0" spc="440"/>
              <a:t>bias </a:t>
            </a:r>
            <a:r>
              <a:rPr dirty="0" spc="605"/>
              <a:t>(future</a:t>
            </a:r>
            <a:r>
              <a:rPr dirty="0" spc="160"/>
              <a:t>  </a:t>
            </a:r>
            <a:r>
              <a:rPr dirty="0" spc="425"/>
              <a:t>data</a:t>
            </a:r>
            <a:r>
              <a:rPr dirty="0" spc="165"/>
              <a:t>  </a:t>
            </a:r>
            <a:r>
              <a:rPr dirty="0" spc="365"/>
              <a:t>never</a:t>
            </a:r>
            <a:r>
              <a:rPr dirty="0" spc="160"/>
              <a:t>  </a:t>
            </a:r>
            <a:r>
              <a:rPr dirty="0" spc="459"/>
              <a:t>leaks</a:t>
            </a:r>
            <a:r>
              <a:rPr dirty="0" spc="165"/>
              <a:t>  </a:t>
            </a:r>
            <a:r>
              <a:rPr dirty="0" spc="590"/>
              <a:t>into</a:t>
            </a:r>
            <a:r>
              <a:rPr dirty="0" spc="165"/>
              <a:t>  </a:t>
            </a:r>
            <a:r>
              <a:rPr dirty="0" spc="625"/>
              <a:t>training)</a:t>
            </a:r>
          </a:p>
        </p:txBody>
      </p:sp>
      <p:sp>
        <p:nvSpPr>
          <p:cNvPr id="3" name="object 3"/>
          <p:cNvSpPr/>
          <p:nvPr/>
        </p:nvSpPr>
        <p:spPr>
          <a:xfrm>
            <a:off x="16352391" y="1082057"/>
            <a:ext cx="916305" cy="916305"/>
          </a:xfrm>
          <a:custGeom>
            <a:avLst/>
            <a:gdLst/>
            <a:ahLst/>
            <a:cxnLst/>
            <a:rect l="l" t="t" r="r" b="b"/>
            <a:pathLst>
              <a:path w="916305" h="916305">
                <a:moveTo>
                  <a:pt x="915974" y="0"/>
                </a:moveTo>
                <a:lnTo>
                  <a:pt x="31445" y="7315"/>
                </a:lnTo>
                <a:lnTo>
                  <a:pt x="29616" y="118033"/>
                </a:lnTo>
                <a:lnTo>
                  <a:pt x="726147" y="112318"/>
                </a:lnTo>
                <a:lnTo>
                  <a:pt x="0" y="838454"/>
                </a:lnTo>
                <a:lnTo>
                  <a:pt x="77444" y="915898"/>
                </a:lnTo>
                <a:lnTo>
                  <a:pt x="803592" y="189763"/>
                </a:lnTo>
                <a:lnTo>
                  <a:pt x="797331" y="885748"/>
                </a:lnTo>
                <a:lnTo>
                  <a:pt x="908659" y="884529"/>
                </a:lnTo>
                <a:lnTo>
                  <a:pt x="915974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956" rIns="0" bIns="0" rtlCol="0" vert="horz">
            <a:spAutoFit/>
          </a:bodyPr>
          <a:lstStyle/>
          <a:p>
            <a:pPr marL="513080">
              <a:lnSpc>
                <a:spcPct val="100000"/>
              </a:lnSpc>
              <a:spcBef>
                <a:spcPts val="114"/>
              </a:spcBef>
            </a:pPr>
            <a:r>
              <a:rPr dirty="0" sz="8550" spc="660"/>
              <a:t>Methodology</a:t>
            </a:r>
            <a:endParaRPr sz="8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5706" y="2688246"/>
            <a:ext cx="13373735" cy="535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18565">
              <a:lnSpc>
                <a:spcPct val="100000"/>
              </a:lnSpc>
              <a:spcBef>
                <a:spcPts val="100"/>
              </a:spcBef>
            </a:pPr>
            <a:r>
              <a:rPr dirty="0" sz="3500" spc="229" b="1">
                <a:solidFill>
                  <a:srgbClr val="222222"/>
                </a:solidFill>
                <a:latin typeface="Arial Narrow"/>
                <a:cs typeface="Arial Narrow"/>
              </a:rPr>
              <a:t>Most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05" b="1">
                <a:solidFill>
                  <a:srgbClr val="222222"/>
                </a:solidFill>
                <a:latin typeface="Arial Narrow"/>
                <a:cs typeface="Arial Narrow"/>
              </a:rPr>
              <a:t>stock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530" b="1">
                <a:solidFill>
                  <a:srgbClr val="222222"/>
                </a:solidFill>
                <a:latin typeface="Arial Narrow"/>
                <a:cs typeface="Arial Narrow"/>
              </a:rPr>
              <a:t>tools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620" b="1">
                <a:solidFill>
                  <a:srgbClr val="222222"/>
                </a:solidFill>
                <a:latin typeface="Arial Narrow"/>
                <a:cs typeface="Arial Narrow"/>
              </a:rPr>
              <a:t>just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70" b="1">
                <a:solidFill>
                  <a:srgbClr val="222222"/>
                </a:solidFill>
                <a:latin typeface="Arial Narrow"/>
                <a:cs typeface="Arial Narrow"/>
              </a:rPr>
              <a:t>show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560" b="1">
                <a:solidFill>
                  <a:srgbClr val="222222"/>
                </a:solidFill>
                <a:latin typeface="Arial Narrow"/>
                <a:cs typeface="Arial Narrow"/>
              </a:rPr>
              <a:t>charts.</a:t>
            </a:r>
            <a:r>
              <a:rPr dirty="0" sz="3500" spc="17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25" b="1">
                <a:solidFill>
                  <a:srgbClr val="222222"/>
                </a:solidFill>
                <a:latin typeface="Arial Narrow"/>
                <a:cs typeface="Arial Narrow"/>
              </a:rPr>
              <a:t>This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530" b="1">
                <a:solidFill>
                  <a:srgbClr val="222222"/>
                </a:solidFill>
                <a:latin typeface="Arial Narrow"/>
                <a:cs typeface="Arial Narrow"/>
              </a:rPr>
              <a:t>project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650" b="1">
                <a:solidFill>
                  <a:srgbClr val="222222"/>
                </a:solidFill>
                <a:latin typeface="Arial Narrow"/>
                <a:cs typeface="Arial Narrow"/>
              </a:rPr>
              <a:t>is </a:t>
            </a:r>
            <a:r>
              <a:rPr dirty="0" sz="3500" spc="635" b="1">
                <a:solidFill>
                  <a:srgbClr val="222222"/>
                </a:solidFill>
                <a:latin typeface="Arial Narrow"/>
                <a:cs typeface="Arial Narrow"/>
              </a:rPr>
              <a:t>different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330" b="1">
                <a:solidFill>
                  <a:srgbClr val="222222"/>
                </a:solidFill>
                <a:latin typeface="Arial Narrow"/>
                <a:cs typeface="Arial Narrow"/>
              </a:rPr>
              <a:t>because:</a:t>
            </a:r>
            <a:endParaRPr sz="35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3500">
              <a:latin typeface="Arial Narrow"/>
              <a:cs typeface="Arial Narrow"/>
            </a:endParaRPr>
          </a:p>
          <a:p>
            <a:pPr marL="12700" marR="5080">
              <a:lnSpc>
                <a:spcPct val="100000"/>
              </a:lnSpc>
            </a:pPr>
            <a:r>
              <a:rPr dirty="0" sz="3500" spc="1030" b="1">
                <a:solidFill>
                  <a:srgbClr val="222222"/>
                </a:solidFill>
                <a:latin typeface="Arial Narrow"/>
                <a:cs typeface="Arial Narrow"/>
              </a:rPr>
              <a:t>It</a:t>
            </a:r>
            <a:r>
              <a:rPr dirty="0" sz="3500" spc="14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355" b="1">
                <a:solidFill>
                  <a:srgbClr val="222222"/>
                </a:solidFill>
                <a:latin typeface="Arial Narrow"/>
                <a:cs typeface="Arial Narrow"/>
              </a:rPr>
              <a:t>runs</a:t>
            </a:r>
            <a:r>
              <a:rPr dirty="0" sz="3500" spc="14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625" b="1">
                <a:solidFill>
                  <a:srgbClr val="222222"/>
                </a:solidFill>
                <a:latin typeface="Arial Narrow"/>
                <a:cs typeface="Arial Narrow"/>
              </a:rPr>
              <a:t>real</a:t>
            </a:r>
            <a:r>
              <a:rPr dirty="0" sz="3500" spc="14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b="1">
                <a:solidFill>
                  <a:srgbClr val="222222"/>
                </a:solidFill>
                <a:latin typeface="Arial Narrow"/>
                <a:cs typeface="Arial Narrow"/>
              </a:rPr>
              <a:t>ML</a:t>
            </a:r>
            <a:r>
              <a:rPr dirty="0" sz="3500" spc="14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229" b="1">
                <a:solidFill>
                  <a:srgbClr val="222222"/>
                </a:solidFill>
                <a:latin typeface="Arial Narrow"/>
                <a:cs typeface="Arial Narrow"/>
              </a:rPr>
              <a:t>models</a:t>
            </a:r>
            <a:r>
              <a:rPr dirty="0" sz="3500" spc="14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120" b="1">
                <a:solidFill>
                  <a:srgbClr val="222222"/>
                </a:solidFill>
                <a:latin typeface="Arial Narrow"/>
                <a:cs typeface="Arial Narrow"/>
              </a:rPr>
              <a:t>(Random</a:t>
            </a:r>
            <a:r>
              <a:rPr dirty="0" sz="3500" spc="14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530" b="1">
                <a:solidFill>
                  <a:srgbClr val="222222"/>
                </a:solidFill>
                <a:latin typeface="Arial Narrow"/>
                <a:cs typeface="Arial Narrow"/>
              </a:rPr>
              <a:t>Forest,</a:t>
            </a:r>
            <a:r>
              <a:rPr dirty="0" sz="3500" spc="14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15" b="1">
                <a:solidFill>
                  <a:srgbClr val="222222"/>
                </a:solidFill>
                <a:latin typeface="Arial Narrow"/>
                <a:cs typeface="Arial Narrow"/>
              </a:rPr>
              <a:t>Gradient </a:t>
            </a:r>
            <a:r>
              <a:rPr dirty="0" sz="3500" spc="440" b="1">
                <a:solidFill>
                  <a:srgbClr val="222222"/>
                </a:solidFill>
                <a:latin typeface="Arial Narrow"/>
                <a:cs typeface="Arial Narrow"/>
              </a:rPr>
              <a:t>Boosting,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229" b="1">
                <a:solidFill>
                  <a:srgbClr val="222222"/>
                </a:solidFill>
                <a:latin typeface="Arial Narrow"/>
                <a:cs typeface="Arial Narrow"/>
              </a:rPr>
              <a:t>SVR,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70" b="1">
                <a:solidFill>
                  <a:srgbClr val="222222"/>
                </a:solidFill>
                <a:latin typeface="Arial Narrow"/>
                <a:cs typeface="Arial Narrow"/>
              </a:rPr>
              <a:t>Linear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390" b="1">
                <a:solidFill>
                  <a:srgbClr val="222222"/>
                </a:solidFill>
                <a:latin typeface="Arial Narrow"/>
                <a:cs typeface="Arial Narrow"/>
              </a:rPr>
              <a:t>Regression)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530" b="1">
                <a:solidFill>
                  <a:srgbClr val="222222"/>
                </a:solidFill>
                <a:latin typeface="Arial Narrow"/>
                <a:cs typeface="Arial Narrow"/>
              </a:rPr>
              <a:t>trained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705" b="1">
                <a:solidFill>
                  <a:srgbClr val="222222"/>
                </a:solidFill>
                <a:latin typeface="Arial Narrow"/>
                <a:cs typeface="Arial Narrow"/>
              </a:rPr>
              <a:t>live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155" b="1">
                <a:solidFill>
                  <a:srgbClr val="222222"/>
                </a:solidFill>
                <a:latin typeface="Arial Narrow"/>
                <a:cs typeface="Arial Narrow"/>
              </a:rPr>
              <a:t>on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75" b="1">
                <a:solidFill>
                  <a:srgbClr val="222222"/>
                </a:solidFill>
                <a:latin typeface="Arial Narrow"/>
                <a:cs typeface="Arial Narrow"/>
              </a:rPr>
              <a:t>fresh </a:t>
            </a:r>
            <a:r>
              <a:rPr dirty="0" sz="3500" spc="155" b="1">
                <a:solidFill>
                  <a:srgbClr val="222222"/>
                </a:solidFill>
                <a:latin typeface="Arial Narrow"/>
                <a:cs typeface="Arial Narrow"/>
              </a:rPr>
              <a:t>Yahoo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355" b="1">
                <a:solidFill>
                  <a:srgbClr val="222222"/>
                </a:solidFill>
                <a:latin typeface="Arial Narrow"/>
                <a:cs typeface="Arial Narrow"/>
              </a:rPr>
              <a:t>Finance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560" b="1">
                <a:solidFill>
                  <a:srgbClr val="222222"/>
                </a:solidFill>
                <a:latin typeface="Arial Narrow"/>
                <a:cs typeface="Arial Narrow"/>
              </a:rPr>
              <a:t>data,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15" b="1">
                <a:solidFill>
                  <a:srgbClr val="222222"/>
                </a:solidFill>
                <a:latin typeface="Arial Narrow"/>
                <a:cs typeface="Arial Narrow"/>
              </a:rPr>
              <a:t>not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650" b="1">
                <a:solidFill>
                  <a:srgbClr val="222222"/>
                </a:solidFill>
                <a:latin typeface="Arial Narrow"/>
                <a:cs typeface="Arial Narrow"/>
              </a:rPr>
              <a:t>static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70" b="1">
                <a:solidFill>
                  <a:srgbClr val="222222"/>
                </a:solidFill>
                <a:latin typeface="Arial Narrow"/>
                <a:cs typeface="Arial Narrow"/>
              </a:rPr>
              <a:t>or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675" b="1">
                <a:solidFill>
                  <a:srgbClr val="222222"/>
                </a:solidFill>
                <a:latin typeface="Arial Narrow"/>
                <a:cs typeface="Arial Narrow"/>
              </a:rPr>
              <a:t>pre-</a:t>
            </a:r>
            <a:r>
              <a:rPr dirty="0" sz="3500" spc="605" b="1">
                <a:solidFill>
                  <a:srgbClr val="222222"/>
                </a:solidFill>
                <a:latin typeface="Arial Narrow"/>
                <a:cs typeface="Arial Narrow"/>
              </a:rPr>
              <a:t>built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345" b="1">
                <a:solidFill>
                  <a:srgbClr val="222222"/>
                </a:solidFill>
                <a:latin typeface="Arial Narrow"/>
                <a:cs typeface="Arial Narrow"/>
              </a:rPr>
              <a:t>models.</a:t>
            </a:r>
            <a:endParaRPr sz="35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3500">
              <a:latin typeface="Arial Narrow"/>
              <a:cs typeface="Arial Narrow"/>
            </a:endParaRPr>
          </a:p>
          <a:p>
            <a:pPr marL="12700" marR="975360">
              <a:lnSpc>
                <a:spcPct val="100000"/>
              </a:lnSpc>
            </a:pPr>
            <a:r>
              <a:rPr dirty="0" sz="3500" spc="1030" b="1">
                <a:solidFill>
                  <a:srgbClr val="222222"/>
                </a:solidFill>
                <a:latin typeface="Arial Narrow"/>
                <a:cs typeface="Arial Narrow"/>
              </a:rPr>
              <a:t>It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260" b="1">
                <a:solidFill>
                  <a:srgbClr val="222222"/>
                </a:solidFill>
                <a:latin typeface="Arial Narrow"/>
                <a:cs typeface="Arial Narrow"/>
              </a:rPr>
              <a:t>uses</a:t>
            </a:r>
            <a:r>
              <a:rPr dirty="0" sz="3500" spc="17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80" b="1">
                <a:solidFill>
                  <a:srgbClr val="222222"/>
                </a:solidFill>
                <a:latin typeface="Arial Narrow"/>
                <a:cs typeface="Arial Narrow"/>
              </a:rPr>
              <a:t>professional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530" b="1">
                <a:solidFill>
                  <a:srgbClr val="222222"/>
                </a:solidFill>
                <a:latin typeface="Arial Narrow"/>
                <a:cs typeface="Arial Narrow"/>
              </a:rPr>
              <a:t>indicators</a:t>
            </a:r>
            <a:r>
              <a:rPr dirty="0" sz="3500" spc="17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705" b="1">
                <a:solidFill>
                  <a:srgbClr val="222222"/>
                </a:solidFill>
                <a:latin typeface="Arial Narrow"/>
                <a:cs typeface="Arial Narrow"/>
              </a:rPr>
              <a:t>like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500" b="1">
                <a:solidFill>
                  <a:srgbClr val="222222"/>
                </a:solidFill>
                <a:latin typeface="Arial Narrow"/>
                <a:cs typeface="Arial Narrow"/>
              </a:rPr>
              <a:t>RSI,</a:t>
            </a:r>
            <a:r>
              <a:rPr dirty="0" sz="3500" spc="17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-10" b="1">
                <a:solidFill>
                  <a:srgbClr val="222222"/>
                </a:solidFill>
                <a:latin typeface="Arial Narrow"/>
                <a:cs typeface="Arial Narrow"/>
              </a:rPr>
              <a:t>MACD, </a:t>
            </a:r>
            <a:r>
              <a:rPr dirty="0" sz="3500" spc="525" b="1">
                <a:solidFill>
                  <a:srgbClr val="222222"/>
                </a:solidFill>
                <a:latin typeface="Arial Narrow"/>
                <a:cs typeface="Arial Narrow"/>
              </a:rPr>
              <a:t>Bollinger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300" b="1">
                <a:solidFill>
                  <a:srgbClr val="222222"/>
                </a:solidFill>
                <a:latin typeface="Arial Narrow"/>
                <a:cs typeface="Arial Narrow"/>
              </a:rPr>
              <a:t>Bands,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200" b="1">
                <a:solidFill>
                  <a:srgbClr val="222222"/>
                </a:solidFill>
                <a:latin typeface="Arial Narrow"/>
                <a:cs typeface="Arial Narrow"/>
              </a:rPr>
              <a:t>and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90" b="1">
                <a:solidFill>
                  <a:srgbClr val="222222"/>
                </a:solidFill>
                <a:latin typeface="Arial Narrow"/>
                <a:cs typeface="Arial Narrow"/>
              </a:rPr>
              <a:t>momentum,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15" b="1">
                <a:solidFill>
                  <a:srgbClr val="222222"/>
                </a:solidFill>
                <a:latin typeface="Arial Narrow"/>
                <a:cs typeface="Arial Narrow"/>
              </a:rPr>
              <a:t>not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620" b="1">
                <a:solidFill>
                  <a:srgbClr val="222222"/>
                </a:solidFill>
                <a:latin typeface="Arial Narrow"/>
                <a:cs typeface="Arial Narrow"/>
              </a:rPr>
              <a:t>just</a:t>
            </a:r>
            <a:r>
              <a:rPr dirty="0" sz="3500" spc="16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425" b="1">
                <a:solidFill>
                  <a:srgbClr val="222222"/>
                </a:solidFill>
                <a:latin typeface="Arial Narrow"/>
                <a:cs typeface="Arial Narrow"/>
              </a:rPr>
              <a:t>basic</a:t>
            </a:r>
            <a:r>
              <a:rPr dirty="0" sz="3500" spc="16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500" spc="525" b="1">
                <a:solidFill>
                  <a:srgbClr val="222222"/>
                </a:solidFill>
                <a:latin typeface="Arial Narrow"/>
                <a:cs typeface="Arial Narrow"/>
              </a:rPr>
              <a:t>price </a:t>
            </a:r>
            <a:r>
              <a:rPr dirty="0" sz="3500" spc="550" b="1">
                <a:solidFill>
                  <a:srgbClr val="222222"/>
                </a:solidFill>
                <a:latin typeface="Arial Narrow"/>
                <a:cs typeface="Arial Narrow"/>
              </a:rPr>
              <a:t>data.</a:t>
            </a:r>
            <a:endParaRPr sz="35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352391" y="1082057"/>
            <a:ext cx="916305" cy="916305"/>
          </a:xfrm>
          <a:custGeom>
            <a:avLst/>
            <a:gdLst/>
            <a:ahLst/>
            <a:cxnLst/>
            <a:rect l="l" t="t" r="r" b="b"/>
            <a:pathLst>
              <a:path w="916305" h="916305">
                <a:moveTo>
                  <a:pt x="915974" y="0"/>
                </a:moveTo>
                <a:lnTo>
                  <a:pt x="31445" y="7315"/>
                </a:lnTo>
                <a:lnTo>
                  <a:pt x="29616" y="118033"/>
                </a:lnTo>
                <a:lnTo>
                  <a:pt x="726147" y="112318"/>
                </a:lnTo>
                <a:lnTo>
                  <a:pt x="0" y="838454"/>
                </a:lnTo>
                <a:lnTo>
                  <a:pt x="77444" y="915898"/>
                </a:lnTo>
                <a:lnTo>
                  <a:pt x="803592" y="189763"/>
                </a:lnTo>
                <a:lnTo>
                  <a:pt x="797331" y="885748"/>
                </a:lnTo>
                <a:lnTo>
                  <a:pt x="908659" y="884529"/>
                </a:lnTo>
                <a:lnTo>
                  <a:pt x="915974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3776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dirty="0" spc="-635"/>
              <a:t>HOW</a:t>
            </a:r>
            <a:r>
              <a:rPr dirty="0" spc="225"/>
              <a:t>  </a:t>
            </a:r>
            <a:r>
              <a:rPr dirty="0" spc="905"/>
              <a:t>IT</a:t>
            </a:r>
            <a:r>
              <a:rPr dirty="0" spc="229"/>
              <a:t>  </a:t>
            </a:r>
            <a:r>
              <a:rPr dirty="0" spc="775"/>
              <a:t>IS</a:t>
            </a:r>
            <a:r>
              <a:rPr dirty="0" spc="229"/>
              <a:t>  </a:t>
            </a:r>
            <a:r>
              <a:rPr dirty="0" spc="100"/>
              <a:t>DIFFERENR</a:t>
            </a:r>
            <a:r>
              <a:rPr dirty="0" spc="229"/>
              <a:t>  </a:t>
            </a:r>
            <a:r>
              <a:rPr dirty="0" spc="-305"/>
              <a:t>FROM</a:t>
            </a:r>
            <a:r>
              <a:rPr dirty="0" spc="229"/>
              <a:t>  </a:t>
            </a:r>
            <a:r>
              <a:rPr dirty="0" spc="-55"/>
              <a:t>OTHERS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1030"/>
              <a:t>It</a:t>
            </a:r>
            <a:r>
              <a:rPr dirty="0" spc="160"/>
              <a:t>  </a:t>
            </a:r>
            <a:r>
              <a:rPr dirty="0" spc="405"/>
              <a:t>helps</a:t>
            </a:r>
            <a:r>
              <a:rPr dirty="0" spc="165"/>
              <a:t>  </a:t>
            </a:r>
            <a:r>
              <a:rPr dirty="0" spc="229"/>
              <a:t>anyone</a:t>
            </a:r>
            <a:r>
              <a:rPr dirty="0" spc="165"/>
              <a:t>  </a:t>
            </a:r>
            <a:r>
              <a:rPr dirty="0" spc="55"/>
              <a:t>make</a:t>
            </a:r>
            <a:r>
              <a:rPr dirty="0" spc="165"/>
              <a:t>  </a:t>
            </a:r>
            <a:r>
              <a:rPr dirty="0" spc="405"/>
              <a:t>smarter</a:t>
            </a:r>
            <a:r>
              <a:rPr dirty="0" spc="165"/>
              <a:t>  </a:t>
            </a:r>
            <a:r>
              <a:rPr dirty="0" spc="390"/>
              <a:t>investment</a:t>
            </a:r>
            <a:r>
              <a:rPr dirty="0" spc="160"/>
              <a:t>  </a:t>
            </a:r>
            <a:r>
              <a:rPr dirty="0" spc="415"/>
              <a:t>decisions </a:t>
            </a:r>
            <a:r>
              <a:rPr dirty="0" spc="450"/>
              <a:t>without</a:t>
            </a:r>
            <a:r>
              <a:rPr dirty="0" spc="165"/>
              <a:t>  </a:t>
            </a:r>
            <a:r>
              <a:rPr dirty="0" spc="350"/>
              <a:t>paying</a:t>
            </a:r>
            <a:r>
              <a:rPr dirty="0" spc="165"/>
              <a:t>  </a:t>
            </a:r>
            <a:r>
              <a:rPr dirty="0" spc="635"/>
              <a:t>for</a:t>
            </a:r>
            <a:r>
              <a:rPr dirty="0" spc="170"/>
              <a:t>  </a:t>
            </a:r>
            <a:r>
              <a:rPr dirty="0" spc="355"/>
              <a:t>expensive</a:t>
            </a:r>
            <a:r>
              <a:rPr dirty="0" spc="165"/>
              <a:t>  </a:t>
            </a:r>
            <a:r>
              <a:rPr dirty="0" spc="445"/>
              <a:t>platforms</a:t>
            </a:r>
            <a:r>
              <a:rPr dirty="0" spc="165"/>
              <a:t>  </a:t>
            </a:r>
            <a:r>
              <a:rPr dirty="0" spc="705"/>
              <a:t>like</a:t>
            </a:r>
            <a:r>
              <a:rPr dirty="0" spc="165"/>
              <a:t>  </a:t>
            </a:r>
            <a:r>
              <a:rPr dirty="0" spc="215"/>
              <a:t>Bloomberg</a:t>
            </a:r>
            <a:r>
              <a:rPr dirty="0" spc="170"/>
              <a:t>  </a:t>
            </a:r>
            <a:r>
              <a:rPr dirty="0" spc="415"/>
              <a:t>or </a:t>
            </a:r>
            <a:r>
              <a:rPr dirty="0" spc="509"/>
              <a:t>trading</a:t>
            </a:r>
            <a:r>
              <a:rPr dirty="0" spc="165"/>
              <a:t>  </a:t>
            </a:r>
            <a:r>
              <a:rPr dirty="0" spc="530"/>
              <a:t>terminals.</a:t>
            </a:r>
          </a:p>
          <a:p>
            <a:pPr>
              <a:lnSpc>
                <a:spcPct val="100000"/>
              </a:lnSpc>
              <a:spcBef>
                <a:spcPts val="180"/>
              </a:spcBef>
            </a:pPr>
          </a:p>
          <a:p>
            <a:pPr marL="12700" marR="5080">
              <a:lnSpc>
                <a:spcPct val="100000"/>
              </a:lnSpc>
            </a:pPr>
            <a:r>
              <a:rPr dirty="0" spc="470"/>
              <a:t>Instead</a:t>
            </a:r>
            <a:r>
              <a:rPr dirty="0" spc="160"/>
              <a:t>  </a:t>
            </a:r>
            <a:r>
              <a:rPr dirty="0" spc="550"/>
              <a:t>of</a:t>
            </a:r>
            <a:r>
              <a:rPr dirty="0" spc="165"/>
              <a:t>  </a:t>
            </a:r>
            <a:r>
              <a:rPr dirty="0" spc="415"/>
              <a:t>guessing,</a:t>
            </a:r>
            <a:r>
              <a:rPr dirty="0" spc="165"/>
              <a:t>  </a:t>
            </a:r>
            <a:r>
              <a:rPr dirty="0" spc="200"/>
              <a:t>you</a:t>
            </a:r>
            <a:r>
              <a:rPr dirty="0" spc="165"/>
              <a:t>  </a:t>
            </a:r>
            <a:r>
              <a:rPr dirty="0" spc="470"/>
              <a:t>get</a:t>
            </a:r>
            <a:r>
              <a:rPr dirty="0" spc="165"/>
              <a:t>  </a:t>
            </a:r>
            <a:r>
              <a:rPr dirty="0" spc="235"/>
              <a:t>ML-</a:t>
            </a:r>
            <a:r>
              <a:rPr dirty="0" spc="229"/>
              <a:t>based</a:t>
            </a:r>
            <a:r>
              <a:rPr dirty="0" spc="160"/>
              <a:t>  </a:t>
            </a:r>
            <a:r>
              <a:rPr dirty="0" spc="535"/>
              <a:t>price</a:t>
            </a:r>
            <a:r>
              <a:rPr dirty="0" spc="165"/>
              <a:t>  </a:t>
            </a:r>
            <a:r>
              <a:rPr dirty="0" spc="480"/>
              <a:t>predictions </a:t>
            </a:r>
            <a:r>
              <a:rPr dirty="0" spc="245"/>
              <a:t>backed</a:t>
            </a:r>
            <a:r>
              <a:rPr dirty="0" spc="160"/>
              <a:t>  </a:t>
            </a:r>
            <a:r>
              <a:rPr dirty="0" spc="229"/>
              <a:t>by</a:t>
            </a:r>
            <a:r>
              <a:rPr dirty="0" spc="165"/>
              <a:t>  </a:t>
            </a:r>
            <a:r>
              <a:rPr dirty="0" spc="625"/>
              <a:t>real</a:t>
            </a:r>
            <a:r>
              <a:rPr dirty="0" spc="165"/>
              <a:t>  </a:t>
            </a:r>
            <a:r>
              <a:rPr dirty="0" spc="425"/>
              <a:t>data</a:t>
            </a:r>
            <a:r>
              <a:rPr dirty="0" spc="165"/>
              <a:t>  </a:t>
            </a:r>
            <a:r>
              <a:rPr dirty="0" spc="200"/>
              <a:t>and</a:t>
            </a:r>
            <a:r>
              <a:rPr dirty="0" spc="165"/>
              <a:t>  </a:t>
            </a:r>
            <a:r>
              <a:rPr dirty="0" spc="480"/>
              <a:t>professional</a:t>
            </a:r>
            <a:r>
              <a:rPr dirty="0" spc="165"/>
              <a:t>  </a:t>
            </a:r>
            <a:r>
              <a:rPr dirty="0" spc="580"/>
              <a:t>indicators,</a:t>
            </a:r>
            <a:r>
              <a:rPr dirty="0" spc="160"/>
              <a:t>  </a:t>
            </a:r>
            <a:r>
              <a:rPr dirty="0" spc="229"/>
              <a:t>so</a:t>
            </a:r>
            <a:r>
              <a:rPr dirty="0" spc="165"/>
              <a:t>  </a:t>
            </a:r>
            <a:r>
              <a:rPr dirty="0" spc="175"/>
              <a:t>you </a:t>
            </a:r>
            <a:r>
              <a:rPr dirty="0" spc="245"/>
              <a:t>can</a:t>
            </a:r>
            <a:r>
              <a:rPr dirty="0" spc="160"/>
              <a:t>  </a:t>
            </a:r>
            <a:r>
              <a:rPr dirty="0" spc="300"/>
              <a:t>see</a:t>
            </a:r>
            <a:r>
              <a:rPr dirty="0" spc="165"/>
              <a:t>  </a:t>
            </a:r>
            <a:r>
              <a:rPr dirty="0" spc="245"/>
              <a:t>where</a:t>
            </a:r>
            <a:r>
              <a:rPr dirty="0" spc="165"/>
              <a:t>  </a:t>
            </a:r>
            <a:r>
              <a:rPr dirty="0" spc="300"/>
              <a:t>a</a:t>
            </a:r>
            <a:r>
              <a:rPr dirty="0" spc="165"/>
              <a:t>  </a:t>
            </a:r>
            <a:r>
              <a:rPr dirty="0" spc="405"/>
              <a:t>stock</a:t>
            </a:r>
            <a:r>
              <a:rPr dirty="0" spc="160"/>
              <a:t>  </a:t>
            </a:r>
            <a:r>
              <a:rPr dirty="0" spc="705"/>
              <a:t>is</a:t>
            </a:r>
            <a:r>
              <a:rPr dirty="0" spc="165"/>
              <a:t>  </a:t>
            </a:r>
            <a:r>
              <a:rPr dirty="0" spc="705"/>
              <a:t>likely</a:t>
            </a:r>
            <a:r>
              <a:rPr dirty="0" spc="165"/>
              <a:t>  </a:t>
            </a:r>
            <a:r>
              <a:rPr dirty="0" spc="229"/>
              <a:t>headed</a:t>
            </a:r>
            <a:r>
              <a:rPr dirty="0" spc="165"/>
              <a:t>  </a:t>
            </a:r>
            <a:r>
              <a:rPr dirty="0" spc="434"/>
              <a:t>before</a:t>
            </a:r>
            <a:r>
              <a:rPr dirty="0" spc="160"/>
              <a:t>  </a:t>
            </a:r>
            <a:r>
              <a:rPr dirty="0" spc="540"/>
              <a:t>investing.</a:t>
            </a:r>
          </a:p>
          <a:p>
            <a:pPr>
              <a:lnSpc>
                <a:spcPct val="100000"/>
              </a:lnSpc>
              <a:spcBef>
                <a:spcPts val="185"/>
              </a:spcBef>
            </a:pPr>
          </a:p>
          <a:p>
            <a:pPr marL="12700" marR="732790">
              <a:lnSpc>
                <a:spcPct val="100000"/>
              </a:lnSpc>
            </a:pPr>
            <a:r>
              <a:rPr dirty="0" spc="90"/>
              <a:t>You</a:t>
            </a:r>
            <a:r>
              <a:rPr dirty="0" spc="160"/>
              <a:t>  </a:t>
            </a:r>
            <a:r>
              <a:rPr dirty="0" spc="245"/>
              <a:t>can</a:t>
            </a:r>
            <a:r>
              <a:rPr dirty="0" spc="165"/>
              <a:t>  </a:t>
            </a:r>
            <a:r>
              <a:rPr dirty="0" spc="185"/>
              <a:t>compare</a:t>
            </a:r>
            <a:r>
              <a:rPr dirty="0" spc="165"/>
              <a:t>  </a:t>
            </a:r>
            <a:r>
              <a:rPr dirty="0" spc="520"/>
              <a:t>multiple</a:t>
            </a:r>
            <a:r>
              <a:rPr dirty="0" spc="165"/>
              <a:t>  </a:t>
            </a:r>
            <a:r>
              <a:rPr dirty="0" spc="375"/>
              <a:t>stocks</a:t>
            </a:r>
            <a:r>
              <a:rPr dirty="0" spc="165"/>
              <a:t>  </a:t>
            </a:r>
            <a:r>
              <a:rPr dirty="0" spc="620"/>
              <a:t>at</a:t>
            </a:r>
            <a:r>
              <a:rPr dirty="0" spc="165"/>
              <a:t>  </a:t>
            </a:r>
            <a:r>
              <a:rPr dirty="0" spc="229"/>
              <a:t>once</a:t>
            </a:r>
            <a:r>
              <a:rPr dirty="0" spc="165"/>
              <a:t>  </a:t>
            </a:r>
            <a:r>
              <a:rPr dirty="0" spc="200"/>
              <a:t>and</a:t>
            </a:r>
            <a:r>
              <a:rPr dirty="0" spc="160"/>
              <a:t>  </a:t>
            </a:r>
            <a:r>
              <a:rPr dirty="0" spc="470"/>
              <a:t>get</a:t>
            </a:r>
            <a:r>
              <a:rPr dirty="0" spc="165"/>
              <a:t>  </a:t>
            </a:r>
            <a:r>
              <a:rPr dirty="0" spc="340"/>
              <a:t>batch </a:t>
            </a:r>
            <a:r>
              <a:rPr dirty="0" spc="490"/>
              <a:t>predictions</a:t>
            </a:r>
            <a:r>
              <a:rPr dirty="0" spc="165"/>
              <a:t>  </a:t>
            </a:r>
            <a:r>
              <a:rPr dirty="0" spc="355"/>
              <a:t>across</a:t>
            </a:r>
            <a:r>
              <a:rPr dirty="0" spc="165"/>
              <a:t>  </a:t>
            </a:r>
            <a:r>
              <a:rPr dirty="0" spc="595"/>
              <a:t>entire</a:t>
            </a:r>
            <a:r>
              <a:rPr dirty="0" spc="165"/>
              <a:t>  </a:t>
            </a:r>
            <a:r>
              <a:rPr dirty="0" spc="520"/>
              <a:t>sectors,</a:t>
            </a:r>
            <a:r>
              <a:rPr dirty="0" spc="170"/>
              <a:t>  </a:t>
            </a:r>
            <a:r>
              <a:rPr dirty="0" spc="375"/>
              <a:t>saving</a:t>
            </a:r>
            <a:r>
              <a:rPr dirty="0" spc="165"/>
              <a:t>  </a:t>
            </a:r>
            <a:r>
              <a:rPr dirty="0" spc="300"/>
              <a:t>hours</a:t>
            </a:r>
            <a:r>
              <a:rPr dirty="0" spc="165"/>
              <a:t>  </a:t>
            </a:r>
            <a:r>
              <a:rPr dirty="0" spc="525"/>
              <a:t>of </a:t>
            </a:r>
            <a:r>
              <a:rPr dirty="0" spc="229"/>
              <a:t>manual</a:t>
            </a:r>
            <a:r>
              <a:rPr dirty="0" spc="170"/>
              <a:t>  </a:t>
            </a:r>
            <a:r>
              <a:rPr dirty="0" spc="470"/>
              <a:t>research.</a:t>
            </a:r>
          </a:p>
        </p:txBody>
      </p:sp>
      <p:sp>
        <p:nvSpPr>
          <p:cNvPr id="3" name="object 3"/>
          <p:cNvSpPr/>
          <p:nvPr/>
        </p:nvSpPr>
        <p:spPr>
          <a:xfrm>
            <a:off x="16352391" y="1082057"/>
            <a:ext cx="916305" cy="916305"/>
          </a:xfrm>
          <a:custGeom>
            <a:avLst/>
            <a:gdLst/>
            <a:ahLst/>
            <a:cxnLst/>
            <a:rect l="l" t="t" r="r" b="b"/>
            <a:pathLst>
              <a:path w="916305" h="916305">
                <a:moveTo>
                  <a:pt x="915974" y="0"/>
                </a:moveTo>
                <a:lnTo>
                  <a:pt x="31445" y="7315"/>
                </a:lnTo>
                <a:lnTo>
                  <a:pt x="29616" y="118033"/>
                </a:lnTo>
                <a:lnTo>
                  <a:pt x="726147" y="112318"/>
                </a:lnTo>
                <a:lnTo>
                  <a:pt x="0" y="838454"/>
                </a:lnTo>
                <a:lnTo>
                  <a:pt x="77444" y="915898"/>
                </a:lnTo>
                <a:lnTo>
                  <a:pt x="803592" y="189763"/>
                </a:lnTo>
                <a:lnTo>
                  <a:pt x="797331" y="885748"/>
                </a:lnTo>
                <a:lnTo>
                  <a:pt x="908659" y="884529"/>
                </a:lnTo>
                <a:lnTo>
                  <a:pt x="915974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3776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dirty="0" spc="1410"/>
              <a:t> </a:t>
            </a:r>
            <a:r>
              <a:rPr dirty="0" spc="1475"/>
              <a:t>It</a:t>
            </a:r>
            <a:r>
              <a:rPr dirty="0" spc="1415"/>
              <a:t> </a:t>
            </a:r>
            <a:r>
              <a:rPr dirty="0" spc="1005"/>
              <a:t>is</a:t>
            </a:r>
            <a:r>
              <a:rPr dirty="0" spc="135"/>
              <a:t>  </a:t>
            </a:r>
            <a:r>
              <a:rPr dirty="0" spc="615"/>
              <a:t>Useful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890592" y="1272786"/>
          <a:ext cx="10030460" cy="1560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2085"/>
                <a:gridCol w="354964"/>
                <a:gridCol w="2023745"/>
                <a:gridCol w="2585720"/>
                <a:gridCol w="1236979"/>
                <a:gridCol w="1043939"/>
              </a:tblGrid>
              <a:tr h="632460">
                <a:tc>
                  <a:txBody>
                    <a:bodyPr/>
                    <a:lstStyle/>
                    <a:p>
                      <a:pPr marL="31750">
                        <a:lnSpc>
                          <a:spcPts val="4880"/>
                        </a:lnSpc>
                      </a:pPr>
                      <a:r>
                        <a:rPr dirty="0" sz="4800" spc="-215" b="1">
                          <a:solidFill>
                            <a:srgbClr val="222222"/>
                          </a:solidFill>
                          <a:latin typeface="Arial Narrow"/>
                          <a:cs typeface="Arial Narrow"/>
                        </a:rPr>
                        <a:t>OUTCOMES</a:t>
                      </a:r>
                      <a:endParaRPr sz="4800">
                        <a:latin typeface="Arial Narrow"/>
                        <a:cs typeface="Arial Narrow"/>
                      </a:endParaRPr>
                    </a:p>
                  </a:txBody>
                  <a:tcPr marL="0" marR="0" marB="0" marT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Arial Narrow"/>
                        <a:cs typeface="Arial Narrow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28369">
                <a:tc>
                  <a:txBody>
                    <a:bodyPr/>
                    <a:lstStyle/>
                    <a:p>
                      <a:pPr marL="31750">
                        <a:lnSpc>
                          <a:spcPts val="3479"/>
                        </a:lnSpc>
                      </a:pPr>
                      <a:r>
                        <a:rPr dirty="0" sz="3250" spc="385" b="1">
                          <a:solidFill>
                            <a:srgbClr val="222222"/>
                          </a:solidFill>
                          <a:latin typeface="Arial Narrow"/>
                          <a:cs typeface="Arial Narrow"/>
                        </a:rPr>
                        <a:t>Data-</a:t>
                      </a:r>
                      <a:r>
                        <a:rPr dirty="0" sz="3250" spc="390" b="1">
                          <a:solidFill>
                            <a:srgbClr val="222222"/>
                          </a:solidFill>
                          <a:latin typeface="Arial Narrow"/>
                          <a:cs typeface="Arial Narrow"/>
                        </a:rPr>
                        <a:t>Driven</a:t>
                      </a:r>
                      <a:endParaRPr sz="3250">
                        <a:latin typeface="Arial Narrow"/>
                        <a:cs typeface="Arial Narrow"/>
                      </a:endParaRPr>
                    </a:p>
                    <a:p>
                      <a:pPr marL="31750">
                        <a:lnSpc>
                          <a:spcPts val="3735"/>
                        </a:lnSpc>
                      </a:pPr>
                      <a:r>
                        <a:rPr dirty="0" sz="3250" spc="80">
                          <a:solidFill>
                            <a:srgbClr val="222222"/>
                          </a:solidFill>
                          <a:latin typeface="Lucida Sans"/>
                          <a:cs typeface="Lucida Sans"/>
                        </a:rPr>
                        <a:t>Data-</a:t>
                      </a:r>
                      <a:r>
                        <a:rPr dirty="0" sz="3250" spc="75">
                          <a:solidFill>
                            <a:srgbClr val="222222"/>
                          </a:solidFill>
                          <a:latin typeface="Lucida Sans"/>
                          <a:cs typeface="Lucida Sans"/>
                        </a:rPr>
                        <a:t>Driven</a:t>
                      </a:r>
                      <a:endParaRPr sz="3250">
                        <a:latin typeface="Lucida Sans"/>
                        <a:cs typeface="Lucida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3479"/>
                        </a:lnSpc>
                      </a:pPr>
                      <a:r>
                        <a:rPr dirty="0" sz="3250" spc="-50" b="1">
                          <a:solidFill>
                            <a:srgbClr val="222222"/>
                          </a:solidFill>
                          <a:latin typeface="Arial Narrow"/>
                          <a:cs typeface="Arial Narrow"/>
                        </a:rPr>
                        <a:t>&amp;</a:t>
                      </a:r>
                      <a:endParaRPr sz="3250">
                        <a:latin typeface="Arial Narrow"/>
                        <a:cs typeface="Arial Narrow"/>
                      </a:endParaRPr>
                    </a:p>
                    <a:p>
                      <a:pPr marL="17145">
                        <a:lnSpc>
                          <a:spcPts val="3735"/>
                        </a:lnSpc>
                      </a:pPr>
                      <a:r>
                        <a:rPr dirty="0" sz="3250" spc="-550">
                          <a:solidFill>
                            <a:srgbClr val="222222"/>
                          </a:solidFill>
                          <a:latin typeface="Lucida Sans"/>
                          <a:cs typeface="Lucida Sans"/>
                        </a:rPr>
                        <a:t>&amp;</a:t>
                      </a:r>
                      <a:endParaRPr sz="3250">
                        <a:latin typeface="Lucida Sans"/>
                        <a:cs typeface="Lucida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3479"/>
                        </a:lnSpc>
                      </a:pPr>
                      <a:r>
                        <a:rPr dirty="0" sz="3250" spc="340" b="1">
                          <a:solidFill>
                            <a:srgbClr val="222222"/>
                          </a:solidFill>
                          <a:latin typeface="Arial Narrow"/>
                          <a:cs typeface="Arial Narrow"/>
                        </a:rPr>
                        <a:t>Targeted</a:t>
                      </a:r>
                      <a:endParaRPr sz="3250">
                        <a:latin typeface="Arial Narrow"/>
                        <a:cs typeface="Arial Narrow"/>
                      </a:endParaRPr>
                    </a:p>
                    <a:p>
                      <a:pPr marL="112395">
                        <a:lnSpc>
                          <a:spcPts val="3735"/>
                        </a:lnSpc>
                      </a:pPr>
                      <a:r>
                        <a:rPr dirty="0" sz="3250" spc="-10">
                          <a:solidFill>
                            <a:srgbClr val="222222"/>
                          </a:solidFill>
                          <a:latin typeface="Lucida Sans"/>
                          <a:cs typeface="Lucida Sans"/>
                        </a:rPr>
                        <a:t>Targeted</a:t>
                      </a:r>
                      <a:endParaRPr sz="3250">
                        <a:latin typeface="Lucida Sans"/>
                        <a:cs typeface="Lucida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479"/>
                        </a:lnSpc>
                      </a:pPr>
                      <a:r>
                        <a:rPr dirty="0" sz="3250" spc="465" b="1">
                          <a:solidFill>
                            <a:srgbClr val="222222"/>
                          </a:solidFill>
                          <a:latin typeface="Arial Narrow"/>
                          <a:cs typeface="Arial Narrow"/>
                        </a:rPr>
                        <a:t>Investing</a:t>
                      </a:r>
                      <a:r>
                        <a:rPr dirty="0" sz="3250" spc="150" b="1">
                          <a:solidFill>
                            <a:srgbClr val="222222"/>
                          </a:solidFill>
                          <a:latin typeface="Arial Narrow"/>
                          <a:cs typeface="Arial Narrow"/>
                        </a:rPr>
                        <a:t>  </a:t>
                      </a:r>
                      <a:r>
                        <a:rPr dirty="0" sz="3250" spc="825" b="1">
                          <a:solidFill>
                            <a:srgbClr val="222222"/>
                          </a:solidFill>
                          <a:latin typeface="Arial Narrow"/>
                          <a:cs typeface="Arial Narrow"/>
                        </a:rPr>
                        <a:t>:</a:t>
                      </a:r>
                      <a:endParaRPr sz="3250">
                        <a:latin typeface="Arial Narrow"/>
                        <a:cs typeface="Arial Narrow"/>
                      </a:endParaRPr>
                    </a:p>
                    <a:p>
                      <a:pPr marL="111760">
                        <a:lnSpc>
                          <a:spcPts val="3735"/>
                        </a:lnSpc>
                      </a:pPr>
                      <a:r>
                        <a:rPr dirty="0" sz="3250" spc="215">
                          <a:solidFill>
                            <a:srgbClr val="222222"/>
                          </a:solidFill>
                          <a:latin typeface="Lucida Sans"/>
                          <a:cs typeface="Lucida Sans"/>
                        </a:rPr>
                        <a:t>Investing:</a:t>
                      </a:r>
                      <a:endParaRPr sz="3250">
                        <a:latin typeface="Lucida Sans"/>
                        <a:cs typeface="Lucida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740"/>
                        </a:lnSpc>
                        <a:spcBef>
                          <a:spcPts val="3470"/>
                        </a:spcBef>
                      </a:pPr>
                      <a:r>
                        <a:rPr dirty="0" sz="3250" spc="-10">
                          <a:solidFill>
                            <a:srgbClr val="222222"/>
                          </a:solidFill>
                          <a:latin typeface="Lucida Sans"/>
                          <a:cs typeface="Lucida Sans"/>
                        </a:rPr>
                        <a:t>Users</a:t>
                      </a:r>
                      <a:endParaRPr sz="3250">
                        <a:latin typeface="Lucida Sans"/>
                        <a:cs typeface="Lucida Sans"/>
                      </a:endParaRPr>
                    </a:p>
                  </a:txBody>
                  <a:tcPr marL="0" marR="0" marB="0" marT="44069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740"/>
                        </a:lnSpc>
                        <a:spcBef>
                          <a:spcPts val="3470"/>
                        </a:spcBef>
                      </a:pPr>
                      <a:r>
                        <a:rPr dirty="0" sz="3250" spc="-405">
                          <a:solidFill>
                            <a:srgbClr val="222222"/>
                          </a:solidFill>
                          <a:latin typeface="Lucida Sans"/>
                          <a:cs typeface="Lucida Sans"/>
                        </a:rPr>
                        <a:t>make</a:t>
                      </a:r>
                      <a:endParaRPr sz="3250">
                        <a:latin typeface="Lucida Sans"/>
                        <a:cs typeface="Lucida Sans"/>
                      </a:endParaRPr>
                    </a:p>
                  </a:txBody>
                  <a:tcPr marL="0" marR="0" marB="0" marT="44069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909642" y="2829038"/>
            <a:ext cx="10590530" cy="545973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678815">
              <a:lnSpc>
                <a:spcPts val="3890"/>
              </a:lnSpc>
              <a:spcBef>
                <a:spcPts val="229"/>
              </a:spcBef>
            </a:pPr>
            <a:r>
              <a:rPr dirty="0" sz="3250">
                <a:solidFill>
                  <a:srgbClr val="222222"/>
                </a:solidFill>
                <a:latin typeface="Lucida Sans"/>
                <a:cs typeface="Lucida Sans"/>
              </a:rPr>
              <a:t>informed</a:t>
            </a:r>
            <a:r>
              <a:rPr dirty="0" sz="3250" spc="72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65">
                <a:solidFill>
                  <a:srgbClr val="222222"/>
                </a:solidFill>
                <a:latin typeface="Lucida Sans"/>
                <a:cs typeface="Lucida Sans"/>
              </a:rPr>
              <a:t>stock</a:t>
            </a:r>
            <a:r>
              <a:rPr dirty="0" sz="3250" spc="72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80">
                <a:solidFill>
                  <a:srgbClr val="222222"/>
                </a:solidFill>
                <a:latin typeface="Lucida Sans"/>
                <a:cs typeface="Lucida Sans"/>
              </a:rPr>
              <a:t>choices</a:t>
            </a:r>
            <a:r>
              <a:rPr dirty="0" sz="3250" spc="72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>
                <a:solidFill>
                  <a:srgbClr val="222222"/>
                </a:solidFill>
                <a:latin typeface="Lucida Sans"/>
                <a:cs typeface="Lucida Sans"/>
              </a:rPr>
              <a:t>using</a:t>
            </a:r>
            <a:r>
              <a:rPr dirty="0" sz="3250" spc="72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190">
                <a:solidFill>
                  <a:srgbClr val="222222"/>
                </a:solidFill>
                <a:latin typeface="Lucida Sans"/>
                <a:cs typeface="Lucida Sans"/>
              </a:rPr>
              <a:t>real-</a:t>
            </a:r>
            <a:r>
              <a:rPr dirty="0" sz="3250" spc="245">
                <a:solidFill>
                  <a:srgbClr val="222222"/>
                </a:solidFill>
                <a:latin typeface="Lucida Sans"/>
                <a:cs typeface="Lucida Sans"/>
              </a:rPr>
              <a:t>time</a:t>
            </a:r>
            <a:r>
              <a:rPr dirty="0" sz="3250" spc="72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190">
                <a:solidFill>
                  <a:srgbClr val="222222"/>
                </a:solidFill>
                <a:latin typeface="Lucida Sans"/>
                <a:cs typeface="Lucida Sans"/>
              </a:rPr>
              <a:t>price </a:t>
            </a:r>
            <a:r>
              <a:rPr dirty="0" sz="3250" spc="254">
                <a:solidFill>
                  <a:srgbClr val="222222"/>
                </a:solidFill>
                <a:latin typeface="Lucida Sans"/>
                <a:cs typeface="Lucida Sans"/>
              </a:rPr>
              <a:t>distributions,</a:t>
            </a:r>
            <a:r>
              <a:rPr dirty="0" sz="3250" spc="45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>
                <a:solidFill>
                  <a:srgbClr val="222222"/>
                </a:solidFill>
                <a:latin typeface="Lucida Sans"/>
                <a:cs typeface="Lucida Sans"/>
              </a:rPr>
              <a:t>market</a:t>
            </a:r>
            <a:r>
              <a:rPr dirty="0" sz="3250" spc="46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170">
                <a:solidFill>
                  <a:srgbClr val="222222"/>
                </a:solidFill>
                <a:latin typeface="Lucida Sans"/>
                <a:cs typeface="Lucida Sans"/>
              </a:rPr>
              <a:t>trends,</a:t>
            </a:r>
            <a:r>
              <a:rPr dirty="0" sz="3250" spc="459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>
                <a:solidFill>
                  <a:srgbClr val="222222"/>
                </a:solidFill>
                <a:latin typeface="Lucida Sans"/>
                <a:cs typeface="Lucida Sans"/>
              </a:rPr>
              <a:t>and</a:t>
            </a:r>
            <a:r>
              <a:rPr dirty="0" sz="3250" spc="46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180">
                <a:solidFill>
                  <a:srgbClr val="222222"/>
                </a:solidFill>
                <a:latin typeface="Lucida Sans"/>
                <a:cs typeface="Lucida Sans"/>
              </a:rPr>
              <a:t>AI-</a:t>
            </a:r>
            <a:r>
              <a:rPr dirty="0" sz="3250" spc="200">
                <a:solidFill>
                  <a:srgbClr val="222222"/>
                </a:solidFill>
                <a:latin typeface="Lucida Sans"/>
                <a:cs typeface="Lucida Sans"/>
              </a:rPr>
              <a:t>driven technical</a:t>
            </a:r>
            <a:r>
              <a:rPr dirty="0" sz="3250" spc="76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254">
                <a:solidFill>
                  <a:srgbClr val="222222"/>
                </a:solidFill>
                <a:latin typeface="Lucida Sans"/>
                <a:cs typeface="Lucida Sans"/>
              </a:rPr>
              <a:t>insights.</a:t>
            </a:r>
            <a:endParaRPr sz="3250">
              <a:latin typeface="Lucida Sans"/>
              <a:cs typeface="Lucida Sans"/>
            </a:endParaRPr>
          </a:p>
          <a:p>
            <a:pPr marL="12700">
              <a:lnSpc>
                <a:spcPts val="3754"/>
              </a:lnSpc>
            </a:pPr>
            <a:r>
              <a:rPr dirty="0" sz="3250" spc="254" b="1">
                <a:solidFill>
                  <a:srgbClr val="222222"/>
                </a:solidFill>
                <a:latin typeface="Arial Narrow"/>
                <a:cs typeface="Arial Narrow"/>
              </a:rPr>
              <a:t>Improved</a:t>
            </a:r>
            <a:r>
              <a:rPr dirty="0" sz="3250" spc="13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250" spc="280" b="1">
                <a:solidFill>
                  <a:srgbClr val="222222"/>
                </a:solidFill>
                <a:latin typeface="Arial Narrow"/>
                <a:cs typeface="Arial Narrow"/>
              </a:rPr>
              <a:t>Readiness</a:t>
            </a:r>
            <a:r>
              <a:rPr dirty="0" sz="3250" spc="13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250" b="1">
                <a:solidFill>
                  <a:srgbClr val="222222"/>
                </a:solidFill>
                <a:latin typeface="Arial Narrow"/>
                <a:cs typeface="Arial Narrow"/>
              </a:rPr>
              <a:t>&amp;</a:t>
            </a:r>
            <a:r>
              <a:rPr dirty="0" sz="3250" spc="13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250" spc="215" b="1">
                <a:solidFill>
                  <a:srgbClr val="222222"/>
                </a:solidFill>
                <a:latin typeface="Arial Narrow"/>
                <a:cs typeface="Arial Narrow"/>
              </a:rPr>
              <a:t>Success</a:t>
            </a:r>
            <a:r>
              <a:rPr dirty="0" sz="3250" spc="13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250" spc="509" b="1">
                <a:solidFill>
                  <a:srgbClr val="222222"/>
                </a:solidFill>
                <a:latin typeface="Arial Narrow"/>
                <a:cs typeface="Arial Narrow"/>
              </a:rPr>
              <a:t>Probability</a:t>
            </a:r>
            <a:r>
              <a:rPr dirty="0" sz="3250" spc="130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250" spc="825" b="1">
                <a:solidFill>
                  <a:srgbClr val="222222"/>
                </a:solidFill>
                <a:latin typeface="Arial Narrow"/>
                <a:cs typeface="Arial Narrow"/>
              </a:rPr>
              <a:t>:</a:t>
            </a:r>
            <a:endParaRPr sz="3250">
              <a:latin typeface="Arial Narrow"/>
              <a:cs typeface="Arial Narrow"/>
            </a:endParaRPr>
          </a:p>
          <a:p>
            <a:pPr marL="12700" marR="5080">
              <a:lnSpc>
                <a:spcPts val="3890"/>
              </a:lnSpc>
              <a:spcBef>
                <a:spcPts val="130"/>
              </a:spcBef>
            </a:pPr>
            <a:r>
              <a:rPr dirty="0" sz="3250" spc="140">
                <a:solidFill>
                  <a:srgbClr val="222222"/>
                </a:solidFill>
                <a:latin typeface="Lucida Sans"/>
                <a:cs typeface="Lucida Sans"/>
              </a:rPr>
              <a:t>AI-</a:t>
            </a:r>
            <a:r>
              <a:rPr dirty="0" sz="3250" spc="165">
                <a:solidFill>
                  <a:srgbClr val="222222"/>
                </a:solidFill>
                <a:latin typeface="Lucida Sans"/>
                <a:cs typeface="Lucida Sans"/>
              </a:rPr>
              <a:t>predicted</a:t>
            </a:r>
            <a:r>
              <a:rPr dirty="0" sz="3250" spc="62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200">
                <a:solidFill>
                  <a:srgbClr val="222222"/>
                </a:solidFill>
                <a:latin typeface="Lucida Sans"/>
                <a:cs typeface="Lucida Sans"/>
              </a:rPr>
              <a:t>price</a:t>
            </a:r>
            <a:r>
              <a:rPr dirty="0" sz="3250" spc="62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-265">
                <a:solidFill>
                  <a:srgbClr val="222222"/>
                </a:solidFill>
                <a:latin typeface="Lucida Sans"/>
                <a:cs typeface="Lucida Sans"/>
              </a:rPr>
              <a:t>movements</a:t>
            </a:r>
            <a:r>
              <a:rPr dirty="0" sz="3250" spc="62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>
                <a:solidFill>
                  <a:srgbClr val="222222"/>
                </a:solidFill>
                <a:latin typeface="Lucida Sans"/>
                <a:cs typeface="Lucida Sans"/>
              </a:rPr>
              <a:t>and</a:t>
            </a:r>
            <a:r>
              <a:rPr dirty="0" sz="3250" spc="62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>
                <a:solidFill>
                  <a:srgbClr val="222222"/>
                </a:solidFill>
                <a:latin typeface="Lucida Sans"/>
                <a:cs typeface="Lucida Sans"/>
              </a:rPr>
              <a:t>auto</a:t>
            </a:r>
            <a:r>
              <a:rPr dirty="0" sz="3250" spc="62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-10">
                <a:solidFill>
                  <a:srgbClr val="222222"/>
                </a:solidFill>
                <a:latin typeface="Lucida Sans"/>
                <a:cs typeface="Lucida Sans"/>
              </a:rPr>
              <a:t>optimized </a:t>
            </a:r>
            <a:r>
              <a:rPr dirty="0" sz="3250" spc="200">
                <a:solidFill>
                  <a:srgbClr val="222222"/>
                </a:solidFill>
                <a:latin typeface="Lucida Sans"/>
                <a:cs typeface="Lucida Sans"/>
              </a:rPr>
              <a:t>indicators</a:t>
            </a:r>
            <a:r>
              <a:rPr dirty="0" sz="3250" spc="6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-30">
                <a:solidFill>
                  <a:srgbClr val="222222"/>
                </a:solidFill>
                <a:latin typeface="Lucida Sans"/>
                <a:cs typeface="Lucida Sans"/>
              </a:rPr>
              <a:t>enhance</a:t>
            </a:r>
            <a:r>
              <a:rPr dirty="0" sz="3250" spc="6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200">
                <a:solidFill>
                  <a:srgbClr val="222222"/>
                </a:solidFill>
                <a:latin typeface="Lucida Sans"/>
                <a:cs typeface="Lucida Sans"/>
              </a:rPr>
              <a:t>technical</a:t>
            </a:r>
            <a:r>
              <a:rPr dirty="0" sz="3250" spc="60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100">
                <a:solidFill>
                  <a:srgbClr val="222222"/>
                </a:solidFill>
                <a:latin typeface="Lucida Sans"/>
                <a:cs typeface="Lucida Sans"/>
              </a:rPr>
              <a:t>preparation</a:t>
            </a:r>
            <a:r>
              <a:rPr dirty="0" sz="3250" spc="60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-25">
                <a:solidFill>
                  <a:srgbClr val="222222"/>
                </a:solidFill>
                <a:latin typeface="Lucida Sans"/>
                <a:cs typeface="Lucida Sans"/>
              </a:rPr>
              <a:t>and </a:t>
            </a:r>
            <a:r>
              <a:rPr dirty="0" sz="3250" spc="175">
                <a:solidFill>
                  <a:srgbClr val="222222"/>
                </a:solidFill>
                <a:latin typeface="Lucida Sans"/>
                <a:cs typeface="Lucida Sans"/>
              </a:rPr>
              <a:t>strategy</a:t>
            </a:r>
            <a:r>
              <a:rPr dirty="0" sz="3250" spc="73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-10">
                <a:solidFill>
                  <a:srgbClr val="222222"/>
                </a:solidFill>
                <a:latin typeface="Lucida Sans"/>
                <a:cs typeface="Lucida Sans"/>
              </a:rPr>
              <a:t>alignment</a:t>
            </a:r>
            <a:endParaRPr sz="3250">
              <a:latin typeface="Lucida Sans"/>
              <a:cs typeface="Lucida Sans"/>
            </a:endParaRPr>
          </a:p>
          <a:p>
            <a:pPr marL="12700">
              <a:lnSpc>
                <a:spcPts val="3754"/>
              </a:lnSpc>
            </a:pPr>
            <a:r>
              <a:rPr dirty="0" sz="3250" spc="405" b="1">
                <a:solidFill>
                  <a:srgbClr val="222222"/>
                </a:solidFill>
                <a:latin typeface="Arial Narrow"/>
                <a:cs typeface="Arial Narrow"/>
              </a:rPr>
              <a:t>Sustainable</a:t>
            </a:r>
            <a:r>
              <a:rPr dirty="0" sz="3250" spc="15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250" spc="470" b="1">
                <a:solidFill>
                  <a:srgbClr val="222222"/>
                </a:solidFill>
                <a:latin typeface="Arial Narrow"/>
                <a:cs typeface="Arial Narrow"/>
              </a:rPr>
              <a:t>Financial</a:t>
            </a:r>
            <a:r>
              <a:rPr dirty="0" sz="3250" spc="15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250" spc="305" b="1">
                <a:solidFill>
                  <a:srgbClr val="222222"/>
                </a:solidFill>
                <a:latin typeface="Arial Narrow"/>
                <a:cs typeface="Arial Narrow"/>
              </a:rPr>
              <a:t>Support</a:t>
            </a:r>
            <a:r>
              <a:rPr dirty="0" sz="3250" spc="15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250" spc="185" b="1">
                <a:solidFill>
                  <a:srgbClr val="222222"/>
                </a:solidFill>
                <a:latin typeface="Arial Narrow"/>
                <a:cs typeface="Arial Narrow"/>
              </a:rPr>
              <a:t>Ecosystem</a:t>
            </a:r>
            <a:r>
              <a:rPr dirty="0" sz="3250" spc="155" b="1">
                <a:solidFill>
                  <a:srgbClr val="222222"/>
                </a:solidFill>
                <a:latin typeface="Arial Narrow"/>
                <a:cs typeface="Arial Narrow"/>
              </a:rPr>
              <a:t>  </a:t>
            </a:r>
            <a:r>
              <a:rPr dirty="0" sz="3250" spc="825" b="1">
                <a:solidFill>
                  <a:srgbClr val="222222"/>
                </a:solidFill>
                <a:latin typeface="Arial Narrow"/>
                <a:cs typeface="Arial Narrow"/>
              </a:rPr>
              <a:t>:</a:t>
            </a:r>
            <a:endParaRPr sz="3250">
              <a:latin typeface="Arial Narrow"/>
              <a:cs typeface="Arial Narrow"/>
            </a:endParaRPr>
          </a:p>
          <a:p>
            <a:pPr marL="12700" marR="5080">
              <a:lnSpc>
                <a:spcPts val="3890"/>
              </a:lnSpc>
              <a:spcBef>
                <a:spcPts val="105"/>
              </a:spcBef>
            </a:pPr>
            <a:r>
              <a:rPr dirty="0" sz="3250" spc="-470">
                <a:solidFill>
                  <a:srgbClr val="222222"/>
                </a:solidFill>
                <a:latin typeface="Lucida Sans"/>
                <a:cs typeface="Lucida Sans"/>
              </a:rPr>
              <a:t>A</a:t>
            </a:r>
            <a:r>
              <a:rPr dirty="0" sz="3250" spc="75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170">
                <a:solidFill>
                  <a:srgbClr val="222222"/>
                </a:solidFill>
                <a:latin typeface="Lucida Sans"/>
                <a:cs typeface="Lucida Sans"/>
              </a:rPr>
              <a:t>scalable</a:t>
            </a:r>
            <a:r>
              <a:rPr dirty="0" sz="3250" spc="75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65">
                <a:solidFill>
                  <a:srgbClr val="222222"/>
                </a:solidFill>
                <a:latin typeface="Lucida Sans"/>
                <a:cs typeface="Lucida Sans"/>
              </a:rPr>
              <a:t>platform</a:t>
            </a:r>
            <a:r>
              <a:rPr dirty="0" sz="3250" spc="75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65">
                <a:solidFill>
                  <a:srgbClr val="222222"/>
                </a:solidFill>
                <a:latin typeface="Lucida Sans"/>
                <a:cs typeface="Lucida Sans"/>
              </a:rPr>
              <a:t>enabling</a:t>
            </a:r>
            <a:r>
              <a:rPr dirty="0" sz="3250" spc="75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65">
                <a:solidFill>
                  <a:srgbClr val="222222"/>
                </a:solidFill>
                <a:latin typeface="Lucida Sans"/>
                <a:cs typeface="Lucida Sans"/>
              </a:rPr>
              <a:t>expert</a:t>
            </a:r>
            <a:r>
              <a:rPr dirty="0" sz="3250" spc="750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-10">
                <a:solidFill>
                  <a:srgbClr val="222222"/>
                </a:solidFill>
                <a:latin typeface="Lucida Sans"/>
                <a:cs typeface="Lucida Sans"/>
              </a:rPr>
              <a:t>mentorship, </a:t>
            </a:r>
            <a:r>
              <a:rPr dirty="0" sz="3250">
                <a:solidFill>
                  <a:srgbClr val="222222"/>
                </a:solidFill>
                <a:latin typeface="Lucida Sans"/>
                <a:cs typeface="Lucida Sans"/>
              </a:rPr>
              <a:t>market</a:t>
            </a:r>
            <a:r>
              <a:rPr dirty="0" sz="3250" spc="51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340">
                <a:solidFill>
                  <a:srgbClr val="222222"/>
                </a:solidFill>
                <a:latin typeface="Lucida Sans"/>
                <a:cs typeface="Lucida Sans"/>
              </a:rPr>
              <a:t>referrals,</a:t>
            </a:r>
            <a:r>
              <a:rPr dirty="0" sz="3250" spc="51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>
                <a:solidFill>
                  <a:srgbClr val="222222"/>
                </a:solidFill>
                <a:latin typeface="Lucida Sans"/>
                <a:cs typeface="Lucida Sans"/>
              </a:rPr>
              <a:t>and</a:t>
            </a:r>
            <a:r>
              <a:rPr dirty="0" sz="3250" spc="51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145">
                <a:solidFill>
                  <a:srgbClr val="222222"/>
                </a:solidFill>
                <a:latin typeface="Lucida Sans"/>
                <a:cs typeface="Lucida Sans"/>
              </a:rPr>
              <a:t>sector</a:t>
            </a:r>
            <a:r>
              <a:rPr dirty="0" sz="3250" spc="51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265">
                <a:solidFill>
                  <a:srgbClr val="222222"/>
                </a:solidFill>
                <a:latin typeface="Lucida Sans"/>
                <a:cs typeface="Lucida Sans"/>
              </a:rPr>
              <a:t>specific</a:t>
            </a:r>
            <a:r>
              <a:rPr dirty="0" sz="3250" spc="515">
                <a:solidFill>
                  <a:srgbClr val="222222"/>
                </a:solidFill>
                <a:latin typeface="Lucida Sans"/>
                <a:cs typeface="Lucida Sans"/>
              </a:rPr>
              <a:t> </a:t>
            </a:r>
            <a:r>
              <a:rPr dirty="0" sz="3250" spc="135">
                <a:solidFill>
                  <a:srgbClr val="222222"/>
                </a:solidFill>
                <a:latin typeface="Lucida Sans"/>
                <a:cs typeface="Lucida Sans"/>
              </a:rPr>
              <a:t>trading </a:t>
            </a:r>
            <a:r>
              <a:rPr dirty="0" sz="3250" spc="105">
                <a:solidFill>
                  <a:srgbClr val="222222"/>
                </a:solidFill>
                <a:latin typeface="Lucida Sans"/>
                <a:cs typeface="Lucida Sans"/>
              </a:rPr>
              <a:t>success.</a:t>
            </a:r>
            <a:endParaRPr sz="3250">
              <a:latin typeface="Lucida Sans"/>
              <a:cs typeface="Lucida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56728" y="853455"/>
            <a:ext cx="1711960" cy="1711960"/>
          </a:xfrm>
          <a:custGeom>
            <a:avLst/>
            <a:gdLst/>
            <a:ahLst/>
            <a:cxnLst/>
            <a:rect l="l" t="t" r="r" b="b"/>
            <a:pathLst>
              <a:path w="1711959" h="1711960">
                <a:moveTo>
                  <a:pt x="1711642" y="0"/>
                </a:moveTo>
                <a:lnTo>
                  <a:pt x="58737" y="13652"/>
                </a:lnTo>
                <a:lnTo>
                  <a:pt x="55333" y="220560"/>
                </a:lnTo>
                <a:lnTo>
                  <a:pt x="1356918" y="209880"/>
                </a:lnTo>
                <a:lnTo>
                  <a:pt x="0" y="1566799"/>
                </a:lnTo>
                <a:lnTo>
                  <a:pt x="144716" y="1711515"/>
                </a:lnTo>
                <a:lnTo>
                  <a:pt x="1501635" y="354596"/>
                </a:lnTo>
                <a:lnTo>
                  <a:pt x="1489938" y="1655165"/>
                </a:lnTo>
                <a:lnTo>
                  <a:pt x="1697977" y="1652892"/>
                </a:lnTo>
                <a:lnTo>
                  <a:pt x="1711642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08397" y="3783290"/>
            <a:ext cx="8871585" cy="2219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400" spc="-1605" b="0">
                <a:latin typeface="Gill Sans MT"/>
                <a:cs typeface="Gill Sans MT"/>
              </a:rPr>
              <a:t>THANK</a:t>
            </a:r>
            <a:r>
              <a:rPr dirty="0" sz="14400" spc="-2045" b="0">
                <a:latin typeface="Gill Sans MT"/>
                <a:cs typeface="Gill Sans MT"/>
              </a:rPr>
              <a:t> </a:t>
            </a:r>
            <a:r>
              <a:rPr dirty="0" sz="14400" spc="-1689" b="0">
                <a:latin typeface="Gill Sans MT"/>
                <a:cs typeface="Gill Sans MT"/>
              </a:rPr>
              <a:t>YOU</a:t>
            </a:r>
            <a:endParaRPr sz="14400">
              <a:latin typeface="Gill Sans MT"/>
              <a:cs typeface="Gill Sans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756728" y="853455"/>
            <a:ext cx="1711960" cy="1711960"/>
          </a:xfrm>
          <a:custGeom>
            <a:avLst/>
            <a:gdLst/>
            <a:ahLst/>
            <a:cxnLst/>
            <a:rect l="l" t="t" r="r" b="b"/>
            <a:pathLst>
              <a:path w="1711959" h="1711960">
                <a:moveTo>
                  <a:pt x="1711642" y="0"/>
                </a:moveTo>
                <a:lnTo>
                  <a:pt x="58737" y="13652"/>
                </a:lnTo>
                <a:lnTo>
                  <a:pt x="55333" y="220560"/>
                </a:lnTo>
                <a:lnTo>
                  <a:pt x="1356918" y="209880"/>
                </a:lnTo>
                <a:lnTo>
                  <a:pt x="0" y="1566799"/>
                </a:lnTo>
                <a:lnTo>
                  <a:pt x="144716" y="1711515"/>
                </a:lnTo>
                <a:lnTo>
                  <a:pt x="1501635" y="354596"/>
                </a:lnTo>
                <a:lnTo>
                  <a:pt x="1489938" y="1655165"/>
                </a:lnTo>
                <a:lnTo>
                  <a:pt x="1697977" y="1652892"/>
                </a:lnTo>
                <a:lnTo>
                  <a:pt x="1711642" y="0"/>
                </a:lnTo>
                <a:close/>
              </a:path>
            </a:pathLst>
          </a:custGeom>
          <a:solidFill>
            <a:srgbClr val="ED562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2026-02-27T03:28:40Z</dcterms:created>
  <dcterms:modified xsi:type="dcterms:W3CDTF">2026-02-27T03:28:40Z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2026-02-27T00:00:00Z</vt:filetime>
  </property>
  <property fmtid="{D5CDD505-2E9C-101B-9397-08002B2CF9AE}" pid="3" name="CreationClient">
    <vt:lpwstr>authoring</vt:lpwstr>
  </property>
  <property fmtid="{D5CDD505-2E9C-101B-9397-08002B2CF9AE}" pid="4" name="Creator">
    <vt:lpwstr>Adobe Express</vt:lpwstr>
  </property>
  <property fmtid="{D5CDD505-2E9C-101B-9397-08002B2CF9AE}" pid="5" name="LastSaved">
    <vt:filetime>2026-02-27T00:00:00Z</vt:filetime>
  </property>
  <property fmtid="{D5CDD505-2E9C-101B-9397-08002B2CF9AE}" pid="6" name="Producer">
    <vt:lpwstr>Adobe Express</vt:lpwstr>
  </property>
</Properties>
</file>